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notesMasters/notesMaster1.xml" ContentType="application/vnd.openxmlformats-officedocument.presentationml.notesMaster+xml"/>
  <Override PartName="/ppt/notesMasters/theme/theme2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Layouts/slideLayout2.xml" ContentType="application/vnd.openxmlformats-officedocument.presentationml.slideLayout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4586beb5ca434563" /><Relationship Type="http://schemas.openxmlformats.org/officeDocument/2006/relationships/extended-properties" Target="/docProps/app.xml" Id="Rfd7ccee8d2804b62" /><Relationship Type="http://schemas.openxmlformats.org/officeDocument/2006/relationships/officeDocument" Target="/ppt/presentation.xml" Id="R93c261bdb54b4691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f60d3b75b77f4633"/>
  </p:sldMasterIdLst>
  <p:notesMasterIdLst>
    <p:notesMasterId xmlns:r="http://schemas.openxmlformats.org/officeDocument/2006/relationships" r:id="Rec96ad2f91074349"/>
  </p:notesMasterIdLst>
  <p:sldIdLst>
    <p:sldId xmlns:r="http://schemas.openxmlformats.org/officeDocument/2006/relationships" id="256" r:id="Rf7ad202204a74e63"/>
    <p:sldId xmlns:r="http://schemas.openxmlformats.org/officeDocument/2006/relationships" id="257" r:id="Rff7b1846f2a34767"/>
    <p:sldId xmlns:r="http://schemas.openxmlformats.org/officeDocument/2006/relationships" id="258" r:id="R2ce3f63332ea417e"/>
    <p:sldId xmlns:r="http://schemas.openxmlformats.org/officeDocument/2006/relationships" id="259" r:id="R72356fa861c5431f"/>
    <p:sldId xmlns:r="http://schemas.openxmlformats.org/officeDocument/2006/relationships" id="260" r:id="Ra6532e50636e40de"/>
    <p:sldId xmlns:r="http://schemas.openxmlformats.org/officeDocument/2006/relationships" id="261" r:id="Rb90f68b5e5c74978"/>
    <p:sldId xmlns:r="http://schemas.openxmlformats.org/officeDocument/2006/relationships" id="262" r:id="R75c6393cb167431e"/>
    <p:sldId xmlns:r="http://schemas.openxmlformats.org/officeDocument/2006/relationships" id="263" r:id="Rb17e5d84ca2a48fd"/>
    <p:sldId xmlns:r="http://schemas.openxmlformats.org/officeDocument/2006/relationships" id="264" r:id="R467534bf97604c59"/>
    <p:sldId xmlns:r="http://schemas.openxmlformats.org/officeDocument/2006/relationships" id="265" r:id="Raab2bef9fda4464e"/>
    <p:sldId xmlns:r="http://schemas.openxmlformats.org/officeDocument/2006/relationships" id="266" r:id="R877546a73fcf4d73"/>
    <p:sldId xmlns:r="http://schemas.openxmlformats.org/officeDocument/2006/relationships" id="267" r:id="R705ea077c5074d31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normalViewPr>
    <p:restoredLeft sz="15611"/>
    <p:restoredTop sz="94658"/>
  </p:normalViewPr>
  <p:slideViewPr>
    <p:cSldViewPr snapToGrid="0">
      <p:cViewPr varScale="1">
        <p:scale>
          <a:sx xmlns:a="http://schemas.openxmlformats.org/drawingml/2006/main" n="120" d="100"/>
          <a:sy xmlns:a="http://schemas.openxmlformats.org/drawingml/2006/main" n="120" d="100"/>
        </p:scale>
        <p:origin x="800" y="184"/>
      </p:cViewPr>
      <p:guideLst/>
    </p:cSldViewPr>
  </p:slideViewPr>
  <p:notesTextViewPr>
    <p:cViewPr>
      <p:scale>
        <a:sx xmlns:a="http://schemas.openxmlformats.org/drawingml/2006/main" n="1" d="1"/>
        <a:sy xmlns:a="http://schemas.openxmlformats.org/drawingml/2006/main" n="1" d="1"/>
      </p:scale>
      <p:origin x="0" y="0"/>
    </p:cViewPr>
  </p:notesTextViewPr>
  <p:gridSpacing cx="76200" cy="76200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60d3b75b77f4633" /><Relationship Type="http://schemas.openxmlformats.org/officeDocument/2006/relationships/theme" Target="/ppt/theme/theme1.xml" Id="R545bd5a7ce104396" /><Relationship Type="http://schemas.openxmlformats.org/officeDocument/2006/relationships/notesMaster" Target="/ppt/notesMasters/notesMaster1.xml" Id="Rec96ad2f91074349" /><Relationship Type="http://schemas.openxmlformats.org/officeDocument/2006/relationships/presProps" Target="/ppt/presProps.xml" Id="R94457b059f264ff3" /><Relationship Type="http://schemas.openxmlformats.org/officeDocument/2006/relationships/viewProps" Target="/ppt/viewProps.xml" Id="R0e783b7a296048ce" /><Relationship Type="http://schemas.openxmlformats.org/officeDocument/2006/relationships/tableStyles" Target="/ppt/tableStyles.xml" Id="R0381ae05aa8242be" /><Relationship Type="http://schemas.openxmlformats.org/officeDocument/2006/relationships/slide" Target="/ppt/slides/slide1.xml" Id="Rf7ad202204a74e63" /><Relationship Type="http://schemas.openxmlformats.org/officeDocument/2006/relationships/slide" Target="/ppt/slides/slide2.xml" Id="Rff7b1846f2a34767" /><Relationship Type="http://schemas.openxmlformats.org/officeDocument/2006/relationships/slide" Target="/ppt/slides/slide3.xml" Id="R2ce3f63332ea417e" /><Relationship Type="http://schemas.openxmlformats.org/officeDocument/2006/relationships/slide" Target="/ppt/slides/slide4.xml" Id="R72356fa861c5431f" /><Relationship Type="http://schemas.openxmlformats.org/officeDocument/2006/relationships/slide" Target="/ppt/slides/slide5.xml" Id="Ra6532e50636e40de" /><Relationship Type="http://schemas.openxmlformats.org/officeDocument/2006/relationships/slide" Target="/ppt/slides/slide6.xml" Id="Rb90f68b5e5c74978" /><Relationship Type="http://schemas.openxmlformats.org/officeDocument/2006/relationships/slide" Target="/ppt/slides/slide7.xml" Id="R75c6393cb167431e" /><Relationship Type="http://schemas.openxmlformats.org/officeDocument/2006/relationships/slide" Target="/ppt/slides/slide8.xml" Id="Rb17e5d84ca2a48fd" /><Relationship Type="http://schemas.openxmlformats.org/officeDocument/2006/relationships/slide" Target="/ppt/slides/slide9.xml" Id="R467534bf97604c59" /><Relationship Type="http://schemas.openxmlformats.org/officeDocument/2006/relationships/slide" Target="/ppt/slides/slide10.xml" Id="Raab2bef9fda4464e" /><Relationship Type="http://schemas.openxmlformats.org/officeDocument/2006/relationships/slide" Target="/ppt/slides/slide11.xml" Id="R877546a73fcf4d73" /><Relationship Type="http://schemas.openxmlformats.org/officeDocument/2006/relationships/slide" Target="/ppt/slides/slide12.xml" Id="R705ea077c5074d31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2.xml" Id="Rf60d32d10f364696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c770041fac5f4397" /><Relationship Type="http://schemas.openxmlformats.org/officeDocument/2006/relationships/notesMaster" Target="/ppt/notesMasters/notesMaster1.xml" Id="R79114bef0ea94793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26c7be1a7ae24cba" /><Relationship Type="http://schemas.openxmlformats.org/officeDocument/2006/relationships/notesMaster" Target="/ppt/notesMasters/notesMaster1.xml" Id="Rfe309c0c7013448d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85f8e529a0084843" /><Relationship Type="http://schemas.openxmlformats.org/officeDocument/2006/relationships/notesMaster" Target="/ppt/notesMasters/notesMaster1.xml" Id="R54d6fcb0b7c3402f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02b1ba4a653e4525" /><Relationship Type="http://schemas.openxmlformats.org/officeDocument/2006/relationships/notesMaster" Target="/ppt/notesMasters/notesMaster1.xml" Id="R47cab742aec74aab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1d233d3ec5bd4f11" /><Relationship Type="http://schemas.openxmlformats.org/officeDocument/2006/relationships/notesMaster" Target="/ppt/notesMasters/notesMaster1.xml" Id="R4789c50aa5bc4721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e02eb78066604189" /><Relationship Type="http://schemas.openxmlformats.org/officeDocument/2006/relationships/notesMaster" Target="/ppt/notesMasters/notesMaster1.xml" Id="R0a2b89eb444f473e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69dc1aa648e6497d" /><Relationship Type="http://schemas.openxmlformats.org/officeDocument/2006/relationships/notesMaster" Target="/ppt/notesMasters/notesMaster1.xml" Id="R18433b366f9641e4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d2a4da9ee5da46f9" /><Relationship Type="http://schemas.openxmlformats.org/officeDocument/2006/relationships/notesMaster" Target="/ppt/notesMasters/notesMaster1.xml" Id="R529f3191fcdd4d58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4cbf7062c0b34643" /><Relationship Type="http://schemas.openxmlformats.org/officeDocument/2006/relationships/notesMaster" Target="/ppt/notesMasters/notesMaster1.xml" Id="Rdf10bed13e0649f3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da7a4c77a5ab455f" /><Relationship Type="http://schemas.openxmlformats.org/officeDocument/2006/relationships/notesMaster" Target="/ppt/notesMasters/notesMaster1.xml" Id="R9addbf2b4688426a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0e86d18d42da444f" /><Relationship Type="http://schemas.openxmlformats.org/officeDocument/2006/relationships/notesMaster" Target="/ppt/notesMasters/notesMaster1.xml" Id="Rc10a9d7cebaa4921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59e1c79423bd43db" /><Relationship Type="http://schemas.openxmlformats.org/officeDocument/2006/relationships/notesMaster" Target="/ppt/notesMasters/notesMaster1.xml" Id="R7c5742ba990746fc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ea0f484e1a84da9" /></Relationships>
</file>

<file path=ppt/slideLayouts/slideLayout2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theme/theme1.xml" Id="R671b8171f5c9490b" /><Relationship Type="http://schemas.openxmlformats.org/officeDocument/2006/relationships/slideLayout" Target="/ppt/slideLayouts/slideLayout2.xml" Id="Rb2982139d57443e6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b2982139d57443e6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5a9e02d24cd441dc" /><Relationship Type="http://schemas.openxmlformats.org/officeDocument/2006/relationships/notesSlide" Target="/ppt/notesSlides/notesSlide1.xml" Id="R6f8326377edb48c0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8e37f1b0fb894145" /><Relationship Type="http://schemas.openxmlformats.org/officeDocument/2006/relationships/notesSlide" Target="/ppt/notesSlides/notesSlide2.xml" Id="Ra674dc71f9244570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9b2489b12b9247a9" /><Relationship Type="http://schemas.openxmlformats.org/officeDocument/2006/relationships/notesSlide" Target="/ppt/notesSlides/notesSlide3.xml" Id="R0d86d781692d4b0c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068b6447dc914e30" /><Relationship Type="http://schemas.openxmlformats.org/officeDocument/2006/relationships/notesSlide" Target="/ppt/notesSlides/notesSlide4.xml" Id="Rce3ef7013bd24c39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239021433c9b49b5" /><Relationship Type="http://schemas.openxmlformats.org/officeDocument/2006/relationships/notesSlide" Target="/ppt/notesSlides/notesSlide5.xml" Id="Rbe7c2286b2bd485f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e90c648c6788483a" /><Relationship Type="http://schemas.openxmlformats.org/officeDocument/2006/relationships/notesSlide" Target="/ppt/notesSlides/notesSlide6.xml" Id="Rb3a84fb7f38f43f9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12a0247fde8c4ca7" /><Relationship Type="http://schemas.openxmlformats.org/officeDocument/2006/relationships/notesSlide" Target="/ppt/notesSlides/notesSlide7.xml" Id="Re48d811cdd99482d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0f428b15fd7a4fea" /><Relationship Type="http://schemas.openxmlformats.org/officeDocument/2006/relationships/notesSlide" Target="/ppt/notesSlides/notesSlide8.xml" Id="Re047dd9934534715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4a8d4b8d8c5a4105" /><Relationship Type="http://schemas.openxmlformats.org/officeDocument/2006/relationships/notesSlide" Target="/ppt/notesSlides/notesSlide9.xml" Id="R9163f8840f1e421d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375b072df7064d3b" /><Relationship Type="http://schemas.openxmlformats.org/officeDocument/2006/relationships/notesSlide" Target="/ppt/notesSlides/notesSlide10.xml" Id="R518ecb3233ce451f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35495118b3694457" /><Relationship Type="http://schemas.openxmlformats.org/officeDocument/2006/relationships/notesSlide" Target="/ppt/notesSlides/notesSlide11.xml" Id="Rbedc9e09a54d4499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cecb9840faff427e" /><Relationship Type="http://schemas.openxmlformats.org/officeDocument/2006/relationships/notesSlide" Target="/ppt/notesSlides/notesSlide12.xml" Id="R830cb7533a37435a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0A102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F55E6AC2-0E5A-4D9D-B497-4CA0960229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1020"/>
          </a:solidFill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B380267-B731-4DA4-8061-EE997888EA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DD4BF"/>
          </a:solidFill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B42C727-8913-4F11-9E44-2D917B62CC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0"/>
            <a:ext cx="3429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9E0B"/>
          </a:solidFill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60D5241-BD51-411F-9DC4-FEB2EDAD35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66750"/>
            <a:ext cx="4953000" cy="495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B2F"/>
          </a:solidFill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60DD4B1-964A-4B32-AC37-129F6F2A02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0" y="1009650"/>
            <a:ext cx="87630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DD4BF"/>
          </a:solidFill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5CEA120-A066-4B8F-A7F1-2C3693B5DE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77050" y="1009650"/>
            <a:ext cx="87630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2E4A"/>
          </a:solidFill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AED6C1F-EF5A-4905-AD9D-9AC444F168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9100" y="1009650"/>
            <a:ext cx="87630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9E0B"/>
          </a:solidFill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3C0339F-6791-407D-9863-00A095AA1F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01150" y="1009650"/>
            <a:ext cx="87630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2E4A"/>
          </a:solidFill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A971497-62CB-477A-A85D-067E200CF5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1238250"/>
            <a:ext cx="4953000" cy="666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4050" b="1">
                <a:solidFill>
                  <a:srgbClr val="F8FAFC"/>
                </a:solidFill>
                <a:latin typeface="Aptos Display"/>
                <a:ea typeface="Aptos Display"/>
                <a:cs typeface="Aptos Display"/>
              </a:defRPr>
            </a:pPr>
            <a:r>
              <a:rPr sz="4050" b="1">
                <a:solidFill>
                  <a:srgbClr val="F8FAFC"/>
                </a:solidFill>
                <a:latin typeface="Aptos Display"/>
                <a:ea typeface="Aptos Display"/>
                <a:cs typeface="Aptos Display"/>
              </a:rPr>
              <a:t>SmartGridBench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D598E98-1A48-48D8-A379-1066C31C03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2057400"/>
            <a:ext cx="4762500" cy="914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75">
                <a:solidFill>
                  <a:srgbClr val="B8C4D8"/>
                </a:solidFill>
                <a:latin typeface="Aptos"/>
                <a:ea typeface="Aptos"/>
                <a:cs typeface="Aptos"/>
              </a:defRPr>
            </a:pPr>
            <a:r>
              <a:rPr sz="1875">
                <a:solidFill>
                  <a:srgbClr val="B8C4D8"/>
                </a:solidFill>
                <a:latin typeface="Aptos"/>
                <a:ea typeface="Aptos"/>
                <a:cs typeface="Aptos"/>
              </a:rPr>
              <a:t>MCP-Based Industrial Agent Benchmarking for Smart Grid Transformer Operations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ABB8D4C-5836-48C9-A750-DCC03062C2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3276600"/>
            <a:ext cx="24384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2E4A"/>
          </a:solidFill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A9642A7-36E1-4B56-9452-626173486F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3352800"/>
            <a:ext cx="217170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2DD4BF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2DD4BF"/>
                </a:solidFill>
                <a:latin typeface="Aptos"/>
                <a:ea typeface="Aptos"/>
                <a:cs typeface="Aptos"/>
              </a:rPr>
              <a:t>Team 13 / District 1101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D2D1B9F-CEA9-4A5E-A1A3-7C5D11806C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3276600"/>
            <a:ext cx="19812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2E4A"/>
          </a:solidFill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A1CF01C-7CC0-4217-83D6-E7FB729716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71900" y="3352800"/>
            <a:ext cx="171450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F59E0B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F59E0B"/>
                </a:solidFill>
                <a:latin typeface="Aptos"/>
                <a:ea typeface="Aptos"/>
                <a:cs typeface="Aptos"/>
              </a:rPr>
              <a:t>HPML Spring 2026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7E33569-CFAE-4708-9B05-A47F571AD8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24550" y="2571750"/>
            <a:ext cx="1600200" cy="1047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2E4A"/>
          </a:solidFill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551DEAB-E5D1-4C9D-BCEE-EA274230D1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2705100"/>
            <a:ext cx="1257300" cy="400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2325" b="1">
                <a:solidFill>
                  <a:srgbClr val="2DD4BF"/>
                </a:solidFill>
                <a:latin typeface="Aptos Display"/>
                <a:ea typeface="Aptos Display"/>
                <a:cs typeface="Aptos Display"/>
              </a:defRPr>
            </a:pPr>
            <a:r>
              <a:rPr sz="2325" b="1">
                <a:solidFill>
                  <a:srgbClr val="2DD4BF"/>
                </a:solidFill>
                <a:latin typeface="Aptos Display"/>
                <a:ea typeface="Aptos Display"/>
                <a:cs typeface="Aptos Display"/>
              </a:rPr>
              <a:t>4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82EB1A1-069B-4D0E-AA6D-42C9FE1C86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3143250"/>
            <a:ext cx="1257300" cy="3619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900">
                <a:solidFill>
                  <a:srgbClr val="B8C4D8"/>
                </a:solidFill>
                <a:latin typeface="Aptos"/>
                <a:ea typeface="Aptos"/>
                <a:cs typeface="Aptos"/>
              </a:defRPr>
            </a:pPr>
            <a:r>
              <a:rPr sz="900">
                <a:solidFill>
                  <a:srgbClr val="B8C4D8"/>
                </a:solidFill>
                <a:latin typeface="Aptos"/>
                <a:ea typeface="Aptos"/>
                <a:cs typeface="Aptos"/>
              </a:rPr>
              <a:t>Smart Grid tool domains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E07DE57-F841-49D8-BE7B-B6A525F59E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34300" y="2571750"/>
            <a:ext cx="1809750" cy="1047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2E4A"/>
          </a:solidFill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7574040-97B7-4AF8-9DFB-50CBC102A1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2705100"/>
            <a:ext cx="1466850" cy="400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2325" b="1">
                <a:solidFill>
                  <a:srgbClr val="F59E0B"/>
                </a:solidFill>
                <a:latin typeface="Aptos Display"/>
                <a:ea typeface="Aptos Display"/>
                <a:cs typeface="Aptos Display"/>
              </a:defRPr>
            </a:pPr>
            <a:r>
              <a:rPr sz="2325" b="1">
                <a:solidFill>
                  <a:srgbClr val="F59E0B"/>
                </a:solidFill>
                <a:latin typeface="Aptos Display"/>
                <a:ea typeface="Aptos Display"/>
                <a:cs typeface="Aptos Display"/>
              </a:rPr>
              <a:t>2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C02D59B-76CB-4265-BA7B-06A3D4B980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3143250"/>
            <a:ext cx="1466850" cy="3619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900">
                <a:solidFill>
                  <a:srgbClr val="B8C4D8"/>
                </a:solidFill>
                <a:latin typeface="Aptos"/>
                <a:ea typeface="Aptos"/>
                <a:cs typeface="Aptos"/>
              </a:defRPr>
            </a:pPr>
            <a:r>
              <a:rPr sz="900">
                <a:solidFill>
                  <a:srgbClr val="B8C4D8"/>
                </a:solidFill>
                <a:latin typeface="Aptos"/>
                <a:ea typeface="Aptos"/>
                <a:cs typeface="Aptos"/>
              </a:rPr>
              <a:t>controlled experiment axes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BFBCDD97-35F2-4469-A4C3-E3C5952664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53600" y="2571750"/>
            <a:ext cx="1600200" cy="1047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2E4A"/>
          </a:solidFill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A2FDEF11-BD47-4366-877B-78720CAE5E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25050" y="2705100"/>
            <a:ext cx="1257300" cy="400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2325" b="1">
                <a:solidFill>
                  <a:srgbClr val="38BDF8"/>
                </a:solidFill>
                <a:latin typeface="Aptos Display"/>
                <a:ea typeface="Aptos Display"/>
                <a:cs typeface="Aptos Display"/>
              </a:defRPr>
            </a:pPr>
            <a:r>
              <a:rPr sz="2325" b="1">
                <a:solidFill>
                  <a:srgbClr val="38BDF8"/>
                </a:solidFill>
                <a:latin typeface="Aptos Display"/>
                <a:ea typeface="Aptos Display"/>
                <a:cs typeface="Aptos Display"/>
              </a:rPr>
              <a:t>30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9C3B92FA-A143-498A-B15C-5F72F58FDD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25050" y="3143250"/>
            <a:ext cx="1257300" cy="3619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900">
                <a:solidFill>
                  <a:srgbClr val="B8C4D8"/>
                </a:solidFill>
                <a:latin typeface="Aptos"/>
                <a:ea typeface="Aptos"/>
                <a:cs typeface="Aptos"/>
              </a:defRPr>
            </a:pPr>
            <a:r>
              <a:rPr sz="900">
                <a:solidFill>
                  <a:srgbClr val="B8C4D8"/>
                </a:solidFill>
                <a:latin typeface="Aptos"/>
                <a:ea typeface="Aptos"/>
                <a:cs typeface="Aptos"/>
              </a:rPr>
              <a:t>validated scenario floor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E159B81E-37BB-428C-A4BD-ABB75B3657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24550" y="4267200"/>
            <a:ext cx="5334000" cy="666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F8FAFC"/>
                </a:solidFill>
                <a:latin typeface="Aptos Display"/>
                <a:ea typeface="Aptos Display"/>
                <a:cs typeface="Aptos Display"/>
              </a:defRPr>
            </a:pPr>
            <a:r>
              <a:rPr sz="2100" b="1">
                <a:solidFill>
                  <a:srgbClr val="F8FAFC"/>
                </a:solidFill>
                <a:latin typeface="Aptos Display"/>
                <a:ea typeface="Aptos Display"/>
                <a:cs typeface="Aptos Display"/>
              </a:rPr>
              <a:t>Thesis: benchmark infrastructure choices are part of the scientific result.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90617B73-5842-428C-BDB7-99149E71A8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38900"/>
            <a:ext cx="103632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750">
                <a:solidFill>
                  <a:srgbClr val="6F7F99"/>
                </a:solidFill>
                <a:latin typeface="Aptos"/>
                <a:ea typeface="Aptos"/>
                <a:cs typeface="Aptos"/>
              </a:defRPr>
            </a:pPr>
            <a:r>
              <a:rPr sz="750">
                <a:solidFill>
                  <a:srgbClr val="6F7F99"/>
                </a:solidFill>
                <a:latin typeface="Aptos"/>
                <a:ea typeface="Aptos"/>
                <a:cs typeface="Aptos"/>
              </a:rPr>
              <a:t>Opening claim: protocol choice, orchestration choice, and evidence accounting all change benchmark conclusions.</a:t>
            </a:r>
          </a:p>
        </p:txBody>
      </p:sp>
    </p:spTree>
    <p:extLst>
      <p:ext uri="{BB962C8B-B14F-4D97-AF65-F5344CB8AC3E}">
        <p14:creationId xmlns:p14="http://schemas.microsoft.com/office/powerpoint/2010/main" val="1502245681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0A102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6BABF050-C83F-4C98-9AF7-BB1D7AE6FF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1020"/>
          </a:solidFill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2E1294C-4322-40F1-843D-DE8271A9F8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DD4BF"/>
          </a:solidFill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2F9FFFD-17A9-4E24-8FDF-180B391E31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0" y="0"/>
            <a:ext cx="2095500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9E0B"/>
          </a:solidFill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6CDA8DD-1ABE-4A7C-A591-FDE67942B4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457200"/>
            <a:ext cx="3810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DD4BF"/>
          </a:solidFill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10A4EF2-0E71-40AD-A16E-3C54225AF9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34290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2DD4BF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2DD4BF"/>
                </a:solidFill>
                <a:latin typeface="Aptos"/>
                <a:ea typeface="Aptos"/>
                <a:cs typeface="Aptos"/>
              </a:rPr>
              <a:t>PROBLEM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8BF647B-76DD-4183-8BCD-5B59E80941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66750"/>
            <a:ext cx="8858250" cy="666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F8FAFC"/>
                </a:solidFill>
                <a:latin typeface="Aptos Display"/>
                <a:ea typeface="Aptos Display"/>
                <a:cs typeface="Aptos Display"/>
              </a:defRPr>
            </a:pPr>
            <a:r>
              <a:rPr sz="2100" b="1">
                <a:solidFill>
                  <a:srgbClr val="F8FAFC"/>
                </a:solidFill>
                <a:latin typeface="Aptos Display"/>
                <a:ea typeface="Aptos Display"/>
                <a:cs typeface="Aptos Display"/>
              </a:rPr>
              <a:t>Industrial agents need evidence, not just answers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6CF027E-5200-4F7F-B2D2-F0F3DFFE59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43050"/>
            <a:ext cx="885825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125">
                <a:solidFill>
                  <a:srgbClr val="B8C4D8"/>
                </a:solidFill>
                <a:latin typeface="Aptos"/>
                <a:ea typeface="Aptos"/>
                <a:cs typeface="Aptos"/>
              </a:defRPr>
            </a:pPr>
            <a:r>
              <a:rPr sz="1125">
                <a:solidFill>
                  <a:srgbClr val="B8C4D8"/>
                </a:solidFill>
                <a:latin typeface="Aptos"/>
                <a:ea typeface="Aptos"/>
                <a:cs typeface="Aptos"/>
              </a:rPr>
              <a:t>Transformer maintenance is a multi-tool, high-stakes workflow.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4FAE57F-9021-4A70-A505-09C815FBE1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457200"/>
            <a:ext cx="5334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6F7F99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6F7F99"/>
                </a:solidFill>
                <a:latin typeface="Aptos"/>
                <a:ea typeface="Aptos"/>
                <a:cs typeface="Aptos"/>
              </a:rPr>
              <a:t>02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E2B779C-A9E1-413E-A01A-DB4C7650DA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000250"/>
            <a:ext cx="2466975" cy="114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233B"/>
          </a:solidFill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8BCAE13-DBC8-4668-A7C9-CF6271FDFC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000250"/>
            <a:ext cx="2466975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DD4BF"/>
          </a:solidFill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697F9B0-AE1E-498E-B854-863ACBD534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286000"/>
            <a:ext cx="2162175" cy="628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8FAFC"/>
                </a:solidFill>
                <a:latin typeface="Aptos Display"/>
                <a:ea typeface="Aptos Display"/>
                <a:cs typeface="Aptos Display"/>
              </a:defRPr>
            </a:pPr>
            <a:r>
              <a:rPr sz="1125" b="1">
                <a:solidFill>
                  <a:srgbClr val="F8FAFC"/>
                </a:solidFill>
                <a:latin typeface="Aptos Display"/>
                <a:ea typeface="Aptos Display"/>
                <a:cs typeface="Aptos Display"/>
              </a:rPr>
              <a:t>Telemetry</a:t>
            </a:r>
          </a:p>
          <a:p xmlns:a="http://schemas.openxmlformats.org/drawingml/2006/main">
            <a:pPr algn="ctr">
              <a:defRPr sz="1125" b="1">
                <a:solidFill>
                  <a:srgbClr val="F8FAFC"/>
                </a:solidFill>
                <a:latin typeface="Aptos Display"/>
                <a:ea typeface="Aptos Display"/>
                <a:cs typeface="Aptos Display"/>
              </a:defRPr>
            </a:pPr>
            <a:r>
              <a:rPr sz="1125" b="1">
                <a:solidFill>
                  <a:srgbClr val="F8FAFC"/>
                </a:solidFill>
                <a:latin typeface="Aptos Display"/>
                <a:ea typeface="Aptos Display"/>
                <a:cs typeface="Aptos Display"/>
              </a:rPr>
              <a:t>inspection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A16722A-1C9E-4327-9F49-1C04F28D7C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24225" y="2400300"/>
            <a:ext cx="133350" cy="304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1950">
                <a:solidFill>
                  <a:srgbClr val="6F7F99"/>
                </a:solidFill>
                <a:latin typeface="Aptos Display"/>
                <a:ea typeface="Aptos Display"/>
                <a:cs typeface="Aptos Display"/>
              </a:defRPr>
            </a:pPr>
            <a:r>
              <a:rPr sz="1950">
                <a:solidFill>
                  <a:srgbClr val="6F7F99"/>
                </a:solidFill>
                <a:latin typeface="Aptos Display"/>
                <a:ea typeface="Aptos Display"/>
                <a:cs typeface="Aptos Display"/>
              </a:rPr>
              <a:t>→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5590C3F-38C7-4401-B798-75921B1EE7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76625" y="2000250"/>
            <a:ext cx="2466975" cy="114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2E4A"/>
          </a:solidFill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8725477-C2B7-4D5A-8B9C-1E094F0704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76625" y="2000250"/>
            <a:ext cx="2466975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DD4BF"/>
          </a:solidFill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A833AF6-0A72-4D28-ADF8-375A2AA0AA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29025" y="2286000"/>
            <a:ext cx="2162175" cy="628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8FAFC"/>
                </a:solidFill>
                <a:latin typeface="Aptos Display"/>
                <a:ea typeface="Aptos Display"/>
                <a:cs typeface="Aptos Display"/>
              </a:defRPr>
            </a:pPr>
            <a:r>
              <a:rPr sz="1125" b="1">
                <a:solidFill>
                  <a:srgbClr val="F8FAFC"/>
                </a:solidFill>
                <a:latin typeface="Aptos Display"/>
                <a:ea typeface="Aptos Display"/>
                <a:cs typeface="Aptos Display"/>
              </a:rPr>
              <a:t>DGA fault</a:t>
            </a:r>
          </a:p>
          <a:p xmlns:a="http://schemas.openxmlformats.org/drawingml/2006/main">
            <a:pPr algn="ctr">
              <a:defRPr sz="1125" b="1">
                <a:solidFill>
                  <a:srgbClr val="F8FAFC"/>
                </a:solidFill>
                <a:latin typeface="Aptos Display"/>
                <a:ea typeface="Aptos Display"/>
                <a:cs typeface="Aptos Display"/>
              </a:defRPr>
            </a:pPr>
            <a:r>
              <a:rPr sz="1125" b="1">
                <a:solidFill>
                  <a:srgbClr val="F8FAFC"/>
                </a:solidFill>
                <a:latin typeface="Aptos Display"/>
                <a:ea typeface="Aptos Display"/>
                <a:cs typeface="Aptos Display"/>
              </a:rPr>
              <a:t>diagnosis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183A903-75EE-44AE-8395-6EAEA0EB9B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62650" y="2400300"/>
            <a:ext cx="133350" cy="304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1950">
                <a:solidFill>
                  <a:srgbClr val="6F7F99"/>
                </a:solidFill>
                <a:latin typeface="Aptos Display"/>
                <a:ea typeface="Aptos Display"/>
                <a:cs typeface="Aptos Display"/>
              </a:defRPr>
            </a:pPr>
            <a:r>
              <a:rPr sz="1950">
                <a:solidFill>
                  <a:srgbClr val="6F7F99"/>
                </a:solidFill>
                <a:latin typeface="Aptos Display"/>
                <a:ea typeface="Aptos Display"/>
                <a:cs typeface="Aptos Display"/>
              </a:rPr>
              <a:t>→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B009394-5074-4CF2-91DB-EAD848C87C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5050" y="2000250"/>
            <a:ext cx="2466975" cy="114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233B"/>
          </a:solidFill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BD7B93B-0A83-4309-B4E5-78A4F9F71F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5050" y="2000250"/>
            <a:ext cx="2466975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DD4BF"/>
          </a:solidFill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F3F512E-9D62-41AC-8C41-9DE6ACB7EC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2286000"/>
            <a:ext cx="2162175" cy="628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8FAFC"/>
                </a:solidFill>
                <a:latin typeface="Aptos Display"/>
                <a:ea typeface="Aptos Display"/>
                <a:cs typeface="Aptos Display"/>
              </a:defRPr>
            </a:pPr>
            <a:r>
              <a:rPr sz="1125" b="1">
                <a:solidFill>
                  <a:srgbClr val="F8FAFC"/>
                </a:solidFill>
                <a:latin typeface="Aptos Display"/>
                <a:ea typeface="Aptos Display"/>
                <a:cs typeface="Aptos Display"/>
              </a:rPr>
              <a:t>Risk / RUL</a:t>
            </a:r>
          </a:p>
          <a:p xmlns:a="http://schemas.openxmlformats.org/drawingml/2006/main">
            <a:pPr algn="ctr">
              <a:defRPr sz="1125" b="1">
                <a:solidFill>
                  <a:srgbClr val="F8FAFC"/>
                </a:solidFill>
                <a:latin typeface="Aptos Display"/>
                <a:ea typeface="Aptos Display"/>
                <a:cs typeface="Aptos Display"/>
              </a:defRPr>
            </a:pPr>
            <a:r>
              <a:rPr sz="1125" b="1">
                <a:solidFill>
                  <a:srgbClr val="F8FAFC"/>
                </a:solidFill>
                <a:latin typeface="Aptos Display"/>
                <a:ea typeface="Aptos Display"/>
                <a:cs typeface="Aptos Display"/>
              </a:rPr>
              <a:t>forecast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C37FBC0-90BD-4AE3-95E5-FA5E4883C8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01075" y="2400300"/>
            <a:ext cx="133350" cy="304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1950">
                <a:solidFill>
                  <a:srgbClr val="6F7F99"/>
                </a:solidFill>
                <a:latin typeface="Aptos Display"/>
                <a:ea typeface="Aptos Display"/>
                <a:cs typeface="Aptos Display"/>
              </a:defRPr>
            </a:pPr>
            <a:r>
              <a:rPr sz="1950">
                <a:solidFill>
                  <a:srgbClr val="6F7F99"/>
                </a:solidFill>
                <a:latin typeface="Aptos Display"/>
                <a:ea typeface="Aptos Display"/>
                <a:cs typeface="Aptos Display"/>
              </a:rPr>
              <a:t>→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0EA46438-99EC-45A8-849A-D2C29CF44B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53475" y="2000250"/>
            <a:ext cx="2466975" cy="114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2E4A"/>
          </a:solidFill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120AD5A7-8CD7-43E7-9DCA-FD96DE1FDF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53475" y="2000250"/>
            <a:ext cx="2466975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9E0B"/>
          </a:solidFill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5E5BC8A3-8C8E-4151-A39B-24B6BA8215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05875" y="2286000"/>
            <a:ext cx="2162175" cy="628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8FAFC"/>
                </a:solidFill>
                <a:latin typeface="Aptos Display"/>
                <a:ea typeface="Aptos Display"/>
                <a:cs typeface="Aptos Display"/>
              </a:defRPr>
            </a:pPr>
            <a:r>
              <a:rPr sz="1125" b="1">
                <a:solidFill>
                  <a:srgbClr val="F8FAFC"/>
                </a:solidFill>
                <a:latin typeface="Aptos Display"/>
                <a:ea typeface="Aptos Display"/>
                <a:cs typeface="Aptos Display"/>
              </a:rPr>
              <a:t>Maintenance</a:t>
            </a:r>
          </a:p>
          <a:p xmlns:a="http://schemas.openxmlformats.org/drawingml/2006/main">
            <a:pPr algn="ctr">
              <a:defRPr sz="1125" b="1">
                <a:solidFill>
                  <a:srgbClr val="F8FAFC"/>
                </a:solidFill>
                <a:latin typeface="Aptos Display"/>
                <a:ea typeface="Aptos Display"/>
                <a:cs typeface="Aptos Display"/>
              </a:defRPr>
            </a:pPr>
            <a:r>
              <a:rPr sz="1125" b="1">
                <a:solidFill>
                  <a:srgbClr val="F8FAFC"/>
                </a:solidFill>
                <a:latin typeface="Aptos Display"/>
                <a:ea typeface="Aptos Display"/>
                <a:cs typeface="Aptos Display"/>
              </a:rPr>
              <a:t>work order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2FB5BAA1-5DAE-437E-A684-559B7AF428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714750"/>
            <a:ext cx="3143250" cy="1543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233B"/>
          </a:solidFill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3911DA54-6245-43A3-9A7C-84BD06ECAB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714750"/>
            <a:ext cx="31432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DD4BF"/>
          </a:solidFill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4D000B9C-5F8B-476C-B1D7-FE424F06AC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3905250"/>
            <a:ext cx="276225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F8FAFC"/>
                </a:solidFill>
                <a:latin typeface="Aptos Display"/>
                <a:ea typeface="Aptos Display"/>
                <a:cs typeface="Aptos Display"/>
              </a:defRPr>
            </a:pPr>
            <a:r>
              <a:rPr sz="1425" b="1">
                <a:solidFill>
                  <a:srgbClr val="F8FAFC"/>
                </a:solidFill>
                <a:latin typeface="Aptos Display"/>
                <a:ea typeface="Aptos Display"/>
                <a:cs typeface="Aptos Display"/>
              </a:rPr>
              <a:t>Why this is a benchmark problem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C21D2E39-6C0F-4A7A-9B48-14AC39141B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4305300"/>
            <a:ext cx="2762250" cy="762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050">
                <a:solidFill>
                  <a:srgbClr val="B8C4D8"/>
                </a:solidFill>
                <a:latin typeface="Aptos"/>
                <a:ea typeface="Aptos"/>
                <a:cs typeface="Aptos"/>
              </a:defRPr>
            </a:pPr>
            <a:r>
              <a:rPr sz="1050">
                <a:solidFill>
                  <a:srgbClr val="B8C4D8"/>
                </a:solidFill>
                <a:latin typeface="Aptos"/>
                <a:ea typeface="Aptos"/>
                <a:cs typeface="Aptos"/>
              </a:rPr>
              <a:t>A believable maintenance agent must retrieve evidence before finalizing recommendations. Fast answers without traceable evidence are operationally unsafe.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C3767717-865C-4B1D-B399-4C71D47BCD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4850" y="3714750"/>
            <a:ext cx="3143250" cy="1543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233B"/>
          </a:solidFill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10CC9E92-0A0A-4B7E-A5F0-E000429DC6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4850" y="3714750"/>
            <a:ext cx="31432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8BDF8"/>
          </a:solidFill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B065B2F7-DA4D-4EBD-8087-5043B44DCF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3905250"/>
            <a:ext cx="276225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F8FAFC"/>
                </a:solidFill>
                <a:latin typeface="Aptos Display"/>
                <a:ea typeface="Aptos Display"/>
                <a:cs typeface="Aptos Display"/>
              </a:defRPr>
            </a:pPr>
            <a:r>
              <a:rPr sz="1425" b="1">
                <a:solidFill>
                  <a:srgbClr val="F8FAFC"/>
                </a:solidFill>
                <a:latin typeface="Aptos Display"/>
                <a:ea typeface="Aptos Display"/>
                <a:cs typeface="Aptos Display"/>
              </a:rPr>
              <a:t>Why Smart Grid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2670B29F-F84B-4D4F-9BF9-D2025677B9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4305300"/>
            <a:ext cx="2762250" cy="762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050">
                <a:solidFill>
                  <a:srgbClr val="B8C4D8"/>
                </a:solidFill>
                <a:latin typeface="Aptos"/>
                <a:ea typeface="Aptos"/>
                <a:cs typeface="Aptos"/>
              </a:defRPr>
            </a:pPr>
            <a:r>
              <a:rPr sz="1050">
                <a:solidFill>
                  <a:srgbClr val="B8C4D8"/>
                </a:solidFill>
                <a:latin typeface="Aptos"/>
                <a:ea typeface="Aptos"/>
                <a:cs typeface="Aptos"/>
              </a:rPr>
              <a:t>Transformer health combines sensor histories, dissolved-gas analysis, degradation forecasts, and repair decisions in one asset trajectory.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C5D872B2-2264-4F4A-ABB0-16EF963345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3714750"/>
            <a:ext cx="3143250" cy="1543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233B"/>
          </a:solidFill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7273B3C3-142E-4C98-B5FE-130FFC57FA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3714750"/>
            <a:ext cx="31432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9E0B"/>
          </a:solidFill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99190BBB-AFC7-4A21-B011-2597B8DB3F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3905250"/>
            <a:ext cx="276225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F8FAFC"/>
                </a:solidFill>
                <a:latin typeface="Aptos Display"/>
                <a:ea typeface="Aptos Display"/>
                <a:cs typeface="Aptos Display"/>
              </a:defRPr>
            </a:pPr>
            <a:r>
              <a:rPr sz="1425" b="1">
                <a:solidFill>
                  <a:srgbClr val="F8FAFC"/>
                </a:solidFill>
                <a:latin typeface="Aptos Display"/>
                <a:ea typeface="Aptos Display"/>
                <a:cs typeface="Aptos Display"/>
              </a:rPr>
              <a:t>Why HPML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13252A35-FD4D-4C66-9509-F1539F152C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4305300"/>
            <a:ext cx="2762250" cy="762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050">
                <a:solidFill>
                  <a:srgbClr val="B8C4D8"/>
                </a:solidFill>
                <a:latin typeface="Aptos"/>
                <a:ea typeface="Aptos"/>
                <a:cs typeface="Aptos"/>
              </a:defRPr>
            </a:pPr>
            <a:r>
              <a:rPr sz="1050">
                <a:solidFill>
                  <a:srgbClr val="B8C4D8"/>
                </a:solidFill>
                <a:latin typeface="Aptos"/>
                <a:ea typeface="Aptos"/>
                <a:cs typeface="Aptos"/>
              </a:rPr>
              <a:t>The protocol and serving layer add measurable latency, while orchestration choices change quality and failure shape.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42975E31-47BF-429B-BA6D-387DB12AB9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38900"/>
            <a:ext cx="103632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750">
                <a:solidFill>
                  <a:srgbClr val="6F7F99"/>
                </a:solidFill>
                <a:latin typeface="Aptos"/>
                <a:ea typeface="Aptos"/>
                <a:cs typeface="Aptos"/>
              </a:defRPr>
            </a:pPr>
            <a:r>
              <a:rPr sz="750">
                <a:solidFill>
                  <a:srgbClr val="6F7F99"/>
                </a:solidFill>
                <a:latin typeface="Aptos"/>
                <a:ea typeface="Aptos"/>
                <a:cs typeface="Aptos"/>
              </a:rPr>
              <a:t>Sources: AssetOpsBench task framing; SmartGridBench data pipeline and scenario realism notes.</a:t>
            </a:r>
          </a:p>
        </p:txBody>
      </p:sp>
    </p:spTree>
    <p:extLst>
      <p:ext uri="{BB962C8B-B14F-4D97-AF65-F5344CB8AC3E}">
        <p14:creationId xmlns:p14="http://schemas.microsoft.com/office/powerpoint/2010/main" val="1660331820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0A102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F69DFDD4-BF5A-4B1E-B2E3-70C659199C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1020"/>
          </a:solidFill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33008BD-0BE7-4B7F-9C01-B699BDDB39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DD4BF"/>
          </a:solidFill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D64BD1F-28F0-40EE-A2C6-B2C99B3FE3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0" y="0"/>
            <a:ext cx="2095500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9E0B"/>
          </a:solidFill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E682C8B-D935-4BF9-B255-5DF3CA95B8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457200"/>
            <a:ext cx="3810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DD4BF"/>
          </a:solidFill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868500C-94E9-4B16-99D9-689A0596F9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34290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2DD4BF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2DD4BF"/>
                </a:solidFill>
                <a:latin typeface="Aptos"/>
                <a:ea typeface="Aptos"/>
                <a:cs typeface="Aptos"/>
              </a:rPr>
              <a:t>ARTIFACT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72D3226-CBB2-4260-97C9-AAC3428C0D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66750"/>
            <a:ext cx="8858250" cy="666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F8FAFC"/>
                </a:solidFill>
                <a:latin typeface="Aptos Display"/>
                <a:ea typeface="Aptos Display"/>
                <a:cs typeface="Aptos Display"/>
              </a:defRPr>
            </a:pPr>
            <a:r>
              <a:rPr sz="2100" b="1">
                <a:solidFill>
                  <a:srgbClr val="F8FAFC"/>
                </a:solidFill>
                <a:latin typeface="Aptos Display"/>
                <a:ea typeface="Aptos Display"/>
                <a:cs typeface="Aptos Display"/>
              </a:rPr>
              <a:t>What we built: a Smart Grid transformer lane over AssetOpsBench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E8C49AF-A15B-4E9E-B2E1-A4564F5C5D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43050"/>
            <a:ext cx="885825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125">
                <a:solidFill>
                  <a:srgbClr val="B8C4D8"/>
                </a:solidFill>
                <a:latin typeface="Aptos"/>
                <a:ea typeface="Aptos"/>
                <a:cs typeface="Aptos"/>
              </a:defRPr>
            </a:pPr>
            <a:r>
              <a:rPr sz="1125">
                <a:solidFill>
                  <a:srgbClr val="B8C4D8"/>
                </a:solidFill>
                <a:latin typeface="Aptos"/>
                <a:ea typeface="Aptos"/>
                <a:cs typeface="Aptos"/>
              </a:rPr>
              <a:t>Four tool domains share one transformer asset key.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CC528E2-06CF-4906-9C7B-32F2FF97B7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457200"/>
            <a:ext cx="5334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6F7F99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6F7F99"/>
                </a:solidFill>
                <a:latin typeface="Aptos"/>
                <a:ea typeface="Aptos"/>
                <a:cs typeface="Aptos"/>
              </a:rPr>
              <a:t>03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39FFAB3-5BBF-4836-A1DF-38C0411FBE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952625"/>
            <a:ext cx="6762750" cy="45339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2E4A"/>
          </a:solidFill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B787666-0C41-409F-B316-DDDBF7F058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066925"/>
            <a:ext cx="952500" cy="20574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2DD4BF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2DD4BF"/>
                </a:solidFill>
                <a:latin typeface="Aptos"/>
                <a:ea typeface="Aptos"/>
                <a:cs typeface="Aptos"/>
              </a:rPr>
              <a:t>Domain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2E80EA4-4A10-4521-A5FC-399459DD47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76450" y="2066925"/>
            <a:ext cx="5429250" cy="20574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2DD4BF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2DD4BF"/>
                </a:solidFill>
                <a:latin typeface="Aptos"/>
                <a:ea typeface="Aptos"/>
                <a:cs typeface="Aptos"/>
              </a:rPr>
              <a:t>Role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0063ADB-5FE0-4AE4-9F3A-88294550A2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425065"/>
            <a:ext cx="6762750" cy="45339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2139"/>
          </a:solidFill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7405CC8-98F6-4DC2-850F-304A414784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539365"/>
            <a:ext cx="952500" cy="20574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863" b="0">
                <a:solidFill>
                  <a:srgbClr val="B8C4D8"/>
                </a:solidFill>
                <a:latin typeface="Aptos"/>
                <a:ea typeface="Aptos"/>
                <a:cs typeface="Aptos"/>
              </a:defRPr>
            </a:pPr>
            <a:r>
              <a:rPr sz="863" b="0">
                <a:solidFill>
                  <a:srgbClr val="B8C4D8"/>
                </a:solidFill>
                <a:latin typeface="Aptos"/>
                <a:ea typeface="Aptos"/>
                <a:cs typeface="Aptos"/>
              </a:rPr>
              <a:t>IoT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2B2E22F-029D-49CE-83CD-1D65EC6CE1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76450" y="2539365"/>
            <a:ext cx="5429250" cy="20574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863" b="0">
                <a:solidFill>
                  <a:srgbClr val="B8C4D8"/>
                </a:solidFill>
                <a:latin typeface="Aptos"/>
                <a:ea typeface="Aptos"/>
                <a:cs typeface="Aptos"/>
              </a:defRPr>
            </a:pPr>
            <a:r>
              <a:rPr sz="863" b="0">
                <a:solidFill>
                  <a:srgbClr val="B8C4D8"/>
                </a:solidFill>
                <a:latin typeface="Aptos"/>
                <a:ea typeface="Aptos"/>
                <a:cs typeface="Aptos"/>
              </a:rPr>
              <a:t>Telemetry, operating context, and asset metadata retrieval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08F697B-13EB-44C1-8EDF-2B73A17A97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897505"/>
            <a:ext cx="6762750" cy="45339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C31"/>
          </a:solidFill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2833B65-7F5C-46CC-A23B-2DBBF97FB5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011805"/>
            <a:ext cx="952500" cy="20574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863" b="0">
                <a:solidFill>
                  <a:srgbClr val="B8C4D8"/>
                </a:solidFill>
                <a:latin typeface="Aptos"/>
                <a:ea typeface="Aptos"/>
                <a:cs typeface="Aptos"/>
              </a:defRPr>
            </a:pPr>
            <a:r>
              <a:rPr sz="863" b="0">
                <a:solidFill>
                  <a:srgbClr val="B8C4D8"/>
                </a:solidFill>
                <a:latin typeface="Aptos"/>
                <a:ea typeface="Aptos"/>
                <a:cs typeface="Aptos"/>
              </a:rPr>
              <a:t>FMSR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D0C6568-DE9C-4CA7-83AB-278A51C028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76450" y="3011805"/>
            <a:ext cx="5429250" cy="20574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863" b="0">
                <a:solidFill>
                  <a:srgbClr val="B8C4D8"/>
                </a:solidFill>
                <a:latin typeface="Aptos"/>
                <a:ea typeface="Aptos"/>
                <a:cs typeface="Aptos"/>
              </a:defRPr>
            </a:pPr>
            <a:r>
              <a:rPr sz="863" b="0">
                <a:solidFill>
                  <a:srgbClr val="B8C4D8"/>
                </a:solidFill>
                <a:latin typeface="Aptos"/>
                <a:ea typeface="Aptos"/>
                <a:cs typeface="Aptos"/>
              </a:rPr>
              <a:t>DGA and failure-mode reasoning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212694E-8DEB-4D73-854F-1020EC5349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369945"/>
            <a:ext cx="6762750" cy="45339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2139"/>
          </a:solidFill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911325E-DB66-4DF7-9BED-EC5E8A44D7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484245"/>
            <a:ext cx="952500" cy="20574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863" b="0">
                <a:solidFill>
                  <a:srgbClr val="B8C4D8"/>
                </a:solidFill>
                <a:latin typeface="Aptos"/>
                <a:ea typeface="Aptos"/>
                <a:cs typeface="Aptos"/>
              </a:defRPr>
            </a:pPr>
            <a:r>
              <a:rPr sz="863" b="0">
                <a:solidFill>
                  <a:srgbClr val="B8C4D8"/>
                </a:solidFill>
                <a:latin typeface="Aptos"/>
                <a:ea typeface="Aptos"/>
                <a:cs typeface="Aptos"/>
              </a:rPr>
              <a:t>TSFM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EE0532D-C95E-41F1-866C-0A8E2B9F2F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76450" y="3484245"/>
            <a:ext cx="5429250" cy="20574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863" b="0">
                <a:solidFill>
                  <a:srgbClr val="B8C4D8"/>
                </a:solidFill>
                <a:latin typeface="Aptos"/>
                <a:ea typeface="Aptos"/>
                <a:cs typeface="Aptos"/>
              </a:defRPr>
            </a:pPr>
            <a:r>
              <a:rPr sz="863" b="0">
                <a:solidFill>
                  <a:srgbClr val="B8C4D8"/>
                </a:solidFill>
                <a:latin typeface="Aptos"/>
                <a:ea typeface="Aptos"/>
                <a:cs typeface="Aptos"/>
              </a:rPr>
              <a:t>Forecasting and anomaly trajectory support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53226744-9D9E-4A67-AB74-52DE41D8B2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842385"/>
            <a:ext cx="6762750" cy="45339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C31"/>
          </a:solidFill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6BDEEB17-57EE-4480-9D76-0BA0A1604B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956685"/>
            <a:ext cx="952500" cy="20574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863" b="0">
                <a:solidFill>
                  <a:srgbClr val="B8C4D8"/>
                </a:solidFill>
                <a:latin typeface="Aptos"/>
                <a:ea typeface="Aptos"/>
                <a:cs typeface="Aptos"/>
              </a:defRPr>
            </a:pPr>
            <a:r>
              <a:rPr sz="863" b="0">
                <a:solidFill>
                  <a:srgbClr val="B8C4D8"/>
                </a:solidFill>
                <a:latin typeface="Aptos"/>
                <a:ea typeface="Aptos"/>
                <a:cs typeface="Aptos"/>
              </a:rPr>
              <a:t>WO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D890C03D-C89A-48DA-94B5-61B8537199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76450" y="3956685"/>
            <a:ext cx="5429250" cy="20574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863" b="0">
                <a:solidFill>
                  <a:srgbClr val="B8C4D8"/>
                </a:solidFill>
                <a:latin typeface="Aptos"/>
                <a:ea typeface="Aptos"/>
                <a:cs typeface="Aptos"/>
              </a:defRPr>
            </a:pPr>
            <a:r>
              <a:rPr sz="863" b="0">
                <a:solidFill>
                  <a:srgbClr val="B8C4D8"/>
                </a:solidFill>
                <a:latin typeface="Aptos"/>
                <a:ea typeface="Aptos"/>
                <a:cs typeface="Aptos"/>
              </a:rPr>
              <a:t>Maintenance work-order creation and prioritization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B13DE140-F8D5-4C2A-8D07-18EF4D38F4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1962150"/>
            <a:ext cx="219075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2E4A"/>
          </a:solidFill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592416B9-DA31-4DA0-880F-2445FC6E88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2950" y="2095500"/>
            <a:ext cx="1847850" cy="400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2325" b="1">
                <a:solidFill>
                  <a:srgbClr val="2DD4BF"/>
                </a:solidFill>
                <a:latin typeface="Aptos Display"/>
                <a:ea typeface="Aptos Display"/>
                <a:cs typeface="Aptos Display"/>
              </a:defRPr>
            </a:pPr>
            <a:r>
              <a:rPr sz="2325" b="1">
                <a:solidFill>
                  <a:srgbClr val="2DD4BF"/>
                </a:solidFill>
                <a:latin typeface="Aptos Display"/>
                <a:ea typeface="Aptos Display"/>
                <a:cs typeface="Aptos Display"/>
              </a:rPr>
              <a:t>MCP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0E2FFB63-D7D8-4C2C-81F6-560F6E326F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2950" y="2533650"/>
            <a:ext cx="1847850" cy="3619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900">
                <a:solidFill>
                  <a:srgbClr val="B8C4D8"/>
                </a:solidFill>
                <a:latin typeface="Aptos"/>
                <a:ea typeface="Aptos"/>
                <a:cs typeface="Aptos"/>
              </a:defRPr>
            </a:pPr>
            <a:r>
              <a:rPr sz="900">
                <a:solidFill>
                  <a:srgbClr val="B8C4D8"/>
                </a:solidFill>
                <a:latin typeface="Aptos"/>
                <a:ea typeface="Aptos"/>
                <a:cs typeface="Aptos"/>
              </a:rPr>
              <a:t>protocolized tool access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6F4C8906-86EF-4724-B924-E7DBEB6C93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3276600"/>
            <a:ext cx="219075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2E4A"/>
          </a:solidFill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FE6033F4-05E9-42AE-B38C-A80F6ECDD9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2950" y="3409950"/>
            <a:ext cx="1847850" cy="400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2325" b="1">
                <a:solidFill>
                  <a:srgbClr val="F59E0B"/>
                </a:solidFill>
                <a:latin typeface="Aptos Display"/>
                <a:ea typeface="Aptos Display"/>
                <a:cs typeface="Aptos Display"/>
              </a:defRPr>
            </a:pPr>
            <a:r>
              <a:rPr sz="2325" b="1">
                <a:solidFill>
                  <a:srgbClr val="F59E0B"/>
                </a:solidFill>
                <a:latin typeface="Aptos Display"/>
                <a:ea typeface="Aptos Display"/>
                <a:cs typeface="Aptos Display"/>
              </a:rPr>
              <a:t>AOB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AE62076C-3A31-4771-9D0F-30AFD36255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2950" y="3848100"/>
            <a:ext cx="1847850" cy="3619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900">
                <a:solidFill>
                  <a:srgbClr val="B8C4D8"/>
                </a:solidFill>
                <a:latin typeface="Aptos"/>
                <a:ea typeface="Aptos"/>
                <a:cs typeface="Aptos"/>
              </a:defRPr>
            </a:pPr>
            <a:r>
              <a:rPr sz="900">
                <a:solidFill>
                  <a:srgbClr val="B8C4D8"/>
                </a:solidFill>
                <a:latin typeface="Aptos"/>
                <a:ea typeface="Aptos"/>
                <a:cs typeface="Aptos"/>
              </a:rPr>
              <a:t>upstream benchmark target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C3E7EA44-1F82-438D-B040-21C57583A8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4591050"/>
            <a:ext cx="219075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2E4A"/>
          </a:solidFill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CB5942FC-7196-4EF7-825D-D4CF654BEC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2950" y="4724400"/>
            <a:ext cx="1847850" cy="400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2325" b="1">
                <a:solidFill>
                  <a:srgbClr val="38BDF8"/>
                </a:solidFill>
                <a:latin typeface="Aptos Display"/>
                <a:ea typeface="Aptos Display"/>
                <a:cs typeface="Aptos Display"/>
              </a:defRPr>
            </a:pPr>
            <a:r>
              <a:rPr sz="2325" b="1">
                <a:solidFill>
                  <a:srgbClr val="38BDF8"/>
                </a:solidFill>
                <a:latin typeface="Aptos Display"/>
                <a:ea typeface="Aptos Display"/>
                <a:cs typeface="Aptos Display"/>
              </a:rPr>
              <a:t>1 key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A68B10D6-FB9F-42B2-897B-F4A49FE167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2950" y="5162550"/>
            <a:ext cx="1847850" cy="3619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900">
                <a:solidFill>
                  <a:srgbClr val="B8C4D8"/>
                </a:solidFill>
                <a:latin typeface="Aptos"/>
                <a:ea typeface="Aptos"/>
                <a:cs typeface="Aptos"/>
              </a:defRPr>
            </a:pPr>
            <a:r>
              <a:rPr sz="900">
                <a:solidFill>
                  <a:srgbClr val="B8C4D8"/>
                </a:solidFill>
                <a:latin typeface="Aptos"/>
                <a:ea typeface="Aptos"/>
                <a:cs typeface="Aptos"/>
              </a:rPr>
              <a:t>shared transformer_id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42A5E47A-05ED-4A0A-AB3D-E711BAEFC7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38900"/>
            <a:ext cx="103632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750">
                <a:solidFill>
                  <a:srgbClr val="6F7F99"/>
                </a:solidFill>
                <a:latin typeface="Aptos"/>
                <a:ea typeface="Aptos"/>
                <a:cs typeface="Aptos"/>
              </a:defRPr>
            </a:pPr>
            <a:r>
              <a:rPr sz="750">
                <a:solidFill>
                  <a:srgbClr val="6F7F99"/>
                </a:solidFill>
                <a:latin typeface="Aptos"/>
                <a:ea typeface="Aptos"/>
                <a:cs typeface="Aptos"/>
              </a:rPr>
              <a:t>Sources: mcp_servers/, data/scenarios/README.md, docs/data_pipeline.tex, docs/scenario_realism_validation.md.</a:t>
            </a:r>
          </a:p>
        </p:txBody>
      </p:sp>
    </p:spTree>
    <p:extLst>
      <p:ext uri="{BB962C8B-B14F-4D97-AF65-F5344CB8AC3E}">
        <p14:creationId xmlns:p14="http://schemas.microsoft.com/office/powerpoint/2010/main" val="1446350297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0A102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BBD5431C-0339-4FDC-91D0-93FF82E3C7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1020"/>
          </a:solidFill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9047538-7716-47CD-8365-087A02F597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DD4BF"/>
          </a:solidFill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2603161-B753-4872-BAEE-441F155B33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0" y="0"/>
            <a:ext cx="2095500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9E0B"/>
          </a:solidFill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34AC553-E80C-48D8-AC63-F49A6F47BA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457200"/>
            <a:ext cx="3810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DD4BF"/>
          </a:solidFill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B3D12A7-8FC4-4584-9466-D53DC5DCFE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34290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2DD4BF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2DD4BF"/>
                </a:solidFill>
                <a:latin typeface="Aptos"/>
                <a:ea typeface="Aptos"/>
                <a:cs typeface="Aptos"/>
              </a:rPr>
              <a:t>SCENARIO GATE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EB20589-AB9A-4883-950C-04F420EE2E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66750"/>
            <a:ext cx="8858250" cy="666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F8FAFC"/>
                </a:solidFill>
                <a:latin typeface="Aptos Display"/>
                <a:ea typeface="Aptos Display"/>
                <a:cs typeface="Aptos Display"/>
              </a:defRPr>
            </a:pPr>
            <a:r>
              <a:rPr sz="2100" b="1">
                <a:solidFill>
                  <a:srgbClr val="F8FAFC"/>
                </a:solidFill>
                <a:latin typeface="Aptos Display"/>
                <a:ea typeface="Aptos Display"/>
                <a:cs typeface="Aptos Display"/>
              </a:rPr>
              <a:t>The corpus claim stays honest until the 30-scenario floor is validated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21470F8-F297-4857-A6E6-60ED997F32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43050"/>
            <a:ext cx="885825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125">
                <a:solidFill>
                  <a:srgbClr val="B8C4D8"/>
                </a:solidFill>
                <a:latin typeface="Aptos"/>
                <a:ea typeface="Aptos"/>
                <a:cs typeface="Aptos"/>
              </a:defRPr>
            </a:pPr>
            <a:r>
              <a:rPr sz="1125">
                <a:solidFill>
                  <a:srgbClr val="B8C4D8"/>
                </a:solidFill>
                <a:latin typeface="Aptos"/>
                <a:ea typeface="Aptos"/>
                <a:cs typeface="Aptos"/>
              </a:rPr>
              <a:t>This slide is intentionally a gate, not a victory lap.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72C7575-5FA3-4A70-9DD5-B69B291117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457200"/>
            <a:ext cx="5334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6F7F99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6F7F99"/>
                </a:solidFill>
                <a:latin typeface="Aptos"/>
                <a:ea typeface="Aptos"/>
                <a:cs typeface="Aptos"/>
              </a:rPr>
              <a:t>04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B6D8B6D-8210-4EE6-A173-5C8BE18B5D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2552700"/>
            <a:ext cx="88582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63653"/>
          </a:solidFill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84E24FF-009F-40D1-8DEB-78018A4B00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86275" y="2476500"/>
            <a:ext cx="381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8BDF8"/>
          </a:solidFill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7E8DA79-FE19-44B1-9AAC-617A17DF48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00525" y="2190750"/>
            <a:ext cx="6096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38BDF8"/>
                </a:solidFill>
                <a:latin typeface="Aptos Display"/>
                <a:ea typeface="Aptos Display"/>
                <a:cs typeface="Aptos Display"/>
              </a:defRPr>
            </a:pPr>
            <a:r>
              <a:rPr sz="1500" b="1">
                <a:solidFill>
                  <a:srgbClr val="38BDF8"/>
                </a:solidFill>
                <a:latin typeface="Aptos Display"/>
                <a:ea typeface="Aptos Display"/>
                <a:cs typeface="Aptos Display"/>
              </a:rPr>
              <a:t>11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349754D-B2A3-46C1-ABD9-2EC2DF7C7C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48075" y="2819400"/>
            <a:ext cx="171450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900">
                <a:solidFill>
                  <a:srgbClr val="B8C4D8"/>
                </a:solidFill>
                <a:latin typeface="Aptos"/>
                <a:ea typeface="Aptos"/>
                <a:cs typeface="Aptos"/>
              </a:defRPr>
            </a:pPr>
            <a:r>
              <a:rPr sz="900">
                <a:solidFill>
                  <a:srgbClr val="B8C4D8"/>
                </a:solidFill>
                <a:latin typeface="Aptos"/>
                <a:ea typeface="Aptos"/>
                <a:cs typeface="Aptos"/>
              </a:rPr>
              <a:t>merged positive scenarios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E80F369-C1E6-457F-9015-7735DC2147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39025" y="2476500"/>
            <a:ext cx="381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9E0B"/>
          </a:solidFill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3D1E956-699C-4D81-9F22-6FDCDBDA81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53275" y="2190750"/>
            <a:ext cx="6096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59E0B"/>
                </a:solidFill>
                <a:latin typeface="Aptos Display"/>
                <a:ea typeface="Aptos Display"/>
                <a:cs typeface="Aptos Display"/>
              </a:defRPr>
            </a:pPr>
            <a:r>
              <a:rPr sz="1500" b="1">
                <a:solidFill>
                  <a:srgbClr val="F59E0B"/>
                </a:solidFill>
                <a:latin typeface="Aptos Display"/>
                <a:ea typeface="Aptos Display"/>
                <a:cs typeface="Aptos Display"/>
              </a:rPr>
              <a:t>21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9245750-FA6F-4186-A8D1-3964173039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00825" y="3086100"/>
            <a:ext cx="171450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900">
                <a:solidFill>
                  <a:srgbClr val="B8C4D8"/>
                </a:solidFill>
                <a:latin typeface="Aptos"/>
                <a:ea typeface="Aptos"/>
                <a:cs typeface="Aptos"/>
              </a:defRPr>
            </a:pPr>
            <a:r>
              <a:rPr sz="900">
                <a:solidFill>
                  <a:srgbClr val="B8C4D8"/>
                </a:solidFill>
                <a:latin typeface="Aptos"/>
                <a:ea typeface="Aptos"/>
                <a:cs typeface="Aptos"/>
              </a:rPr>
              <a:t>after PR #156 if accepted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6CDED54-C943-48AF-BF8B-B17D283824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0" y="2476500"/>
            <a:ext cx="381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DD4BF"/>
          </a:solidFill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D17C215-4995-4B0E-B586-1BD2A8EA70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0" y="2190750"/>
            <a:ext cx="6096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2DD4BF"/>
                </a:solidFill>
                <a:latin typeface="Aptos Display"/>
                <a:ea typeface="Aptos Display"/>
                <a:cs typeface="Aptos Display"/>
              </a:defRPr>
            </a:pPr>
            <a:r>
              <a:rPr sz="1500" b="1">
                <a:solidFill>
                  <a:srgbClr val="2DD4BF"/>
                </a:solidFill>
                <a:latin typeface="Aptos Display"/>
                <a:ea typeface="Aptos Display"/>
                <a:cs typeface="Aptos Display"/>
              </a:rPr>
              <a:t>30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BD1A975-D9E9-476E-AFC9-40E4DF2B42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58300" y="2819400"/>
            <a:ext cx="171450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900">
                <a:solidFill>
                  <a:srgbClr val="B8C4D8"/>
                </a:solidFill>
                <a:latin typeface="Aptos"/>
                <a:ea typeface="Aptos"/>
                <a:cs typeface="Aptos"/>
              </a:defRPr>
            </a:pPr>
            <a:r>
              <a:rPr sz="900">
                <a:solidFill>
                  <a:srgbClr val="B8C4D8"/>
                </a:solidFill>
                <a:latin typeface="Aptos"/>
                <a:ea typeface="Aptos"/>
                <a:cs typeface="Aptos"/>
              </a:rPr>
              <a:t>proposal floor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122FEF9-0F50-4B60-A1C6-7A6D0EF926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4095750"/>
            <a:ext cx="4572000" cy="1238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233B"/>
          </a:solidFill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7E9F5FD0-8614-4910-82C7-1EF1607C00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4095750"/>
            <a:ext cx="45720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9E0B"/>
          </a:solidFill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E57735BC-463C-4914-9087-10278DB142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4286250"/>
            <a:ext cx="419100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F8FAFC"/>
                </a:solidFill>
                <a:latin typeface="Aptos Display"/>
                <a:ea typeface="Aptos Display"/>
                <a:cs typeface="Aptos Display"/>
              </a:defRPr>
            </a:pPr>
            <a:r>
              <a:rPr sz="1425" b="1">
                <a:solidFill>
                  <a:srgbClr val="F8FAFC"/>
                </a:solidFill>
                <a:latin typeface="Aptos Display"/>
                <a:ea typeface="Aptos Display"/>
                <a:cs typeface="Aptos Display"/>
              </a:rPr>
              <a:t>Current stance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ABE67C4E-31E5-4CF9-BC0F-58379855FA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4686300"/>
            <a:ext cx="4191000" cy="4572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050">
                <a:solidFill>
                  <a:srgbClr val="B8C4D8"/>
                </a:solidFill>
                <a:latin typeface="Aptos"/>
                <a:ea typeface="Aptos"/>
                <a:cs typeface="Aptos"/>
              </a:defRPr>
            </a:pPr>
            <a:r>
              <a:rPr sz="1050">
                <a:solidFill>
                  <a:srgbClr val="B8C4D8"/>
                </a:solidFill>
                <a:latin typeface="Aptos"/>
                <a:ea typeface="Aptos"/>
                <a:cs typeface="Aptos"/>
              </a:rPr>
              <a:t>Use 30 as the required floor, not as complete, until PR #156 and generator-accepted scenarios settle.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2BFA3B4C-9669-4886-BAFC-7BC3869157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4095750"/>
            <a:ext cx="4572000" cy="1238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233B"/>
          </a:solidFill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8AE5C034-242D-45DE-B4F4-FD39E0D5D3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4095750"/>
            <a:ext cx="45720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DD4BF"/>
          </a:solidFill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B53FA0A0-2229-4164-B624-82E6E2EEE6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4286250"/>
            <a:ext cx="419100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F8FAFC"/>
                </a:solidFill>
                <a:latin typeface="Aptos Display"/>
                <a:ea typeface="Aptos Display"/>
                <a:cs typeface="Aptos Display"/>
              </a:defRPr>
            </a:pPr>
            <a:r>
              <a:rPr sz="1425" b="1">
                <a:solidFill>
                  <a:srgbClr val="F8FAFC"/>
                </a:solidFill>
                <a:latin typeface="Aptos Display"/>
                <a:ea typeface="Aptos Display"/>
                <a:cs typeface="Aptos Display"/>
              </a:rPr>
              <a:t>Paper/deck effect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98A099C8-A2DB-4F32-AE4A-A0BF64CF35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4686300"/>
            <a:ext cx="4191000" cy="4572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050">
                <a:solidFill>
                  <a:srgbClr val="B8C4D8"/>
                </a:solidFill>
                <a:latin typeface="Aptos"/>
                <a:ea typeface="Aptos"/>
                <a:cs typeface="Aptos"/>
              </a:defRPr>
            </a:pPr>
            <a:r>
              <a:rPr sz="1050">
                <a:solidFill>
                  <a:srgbClr val="B8C4D8"/>
                </a:solidFill>
                <a:latin typeface="Aptos"/>
                <a:ea typeface="Aptos"/>
                <a:cs typeface="Aptos"/>
              </a:rPr>
              <a:t>The final corpus table is the main open empirical gate for the benchmark-extension claim.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F878A644-B1CD-4FC4-9330-C50628004E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38900"/>
            <a:ext cx="103632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750">
                <a:solidFill>
                  <a:srgbClr val="6F7F99"/>
                </a:solidFill>
                <a:latin typeface="Aptos"/>
                <a:ea typeface="Aptos"/>
                <a:cs typeface="Aptos"/>
              </a:defRPr>
            </a:pPr>
            <a:r>
              <a:rPr sz="750">
                <a:solidFill>
                  <a:srgbClr val="6F7F99"/>
                </a:solidFill>
                <a:latin typeface="Aptos"/>
                <a:ea typeface="Aptos"/>
                <a:cs typeface="Aptos"/>
              </a:rPr>
              <a:t>Sources: data/scenarios/, validate_scenarios.py, PR #156, generator acceptance status from team coordination.</a:t>
            </a:r>
          </a:p>
        </p:txBody>
      </p:sp>
    </p:spTree>
    <p:extLst>
      <p:ext uri="{BB962C8B-B14F-4D97-AF65-F5344CB8AC3E}">
        <p14:creationId xmlns:p14="http://schemas.microsoft.com/office/powerpoint/2010/main" val="678427961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0A102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CBD79C48-44C1-4C34-8D34-B5B295D7CF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1020"/>
          </a:solidFill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8145366-ABCC-4B88-A976-27CF30AF8E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DD4BF"/>
          </a:solidFill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395FDCB-C9A0-4C79-A9A6-17B6550697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0" y="0"/>
            <a:ext cx="2095500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9E0B"/>
          </a:solidFill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39B7FBF-3AF0-4A95-8E6A-65FEABEDE8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457200"/>
            <a:ext cx="3810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DD4BF"/>
          </a:solidFill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AC0BF1A-4651-428E-BBBB-056577F4FA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34290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2DD4BF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2DD4BF"/>
                </a:solidFill>
                <a:latin typeface="Aptos"/>
                <a:ea typeface="Aptos"/>
                <a:cs typeface="Aptos"/>
              </a:rPr>
              <a:t>ARCHITECTURE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0F7F468-D4B3-4BC2-B781-CF66572556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66750"/>
            <a:ext cx="8858250" cy="666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F8FAFC"/>
                </a:solidFill>
                <a:latin typeface="Aptos Display"/>
                <a:ea typeface="Aptos Display"/>
                <a:cs typeface="Aptos Display"/>
              </a:defRPr>
            </a:pPr>
            <a:r>
              <a:rPr sz="2100" b="1">
                <a:solidFill>
                  <a:srgbClr val="F8FAFC"/>
                </a:solidFill>
                <a:latin typeface="Aptos Display"/>
                <a:ea typeface="Aptos Display"/>
                <a:cs typeface="Aptos Display"/>
              </a:rPr>
              <a:t>One artifact contract keeps the cells comparable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08DBC5D-F623-441B-AAC0-FA0B28B938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43050"/>
            <a:ext cx="885825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125">
                <a:solidFill>
                  <a:srgbClr val="B8C4D8"/>
                </a:solidFill>
                <a:latin typeface="Aptos"/>
                <a:ea typeface="Aptos"/>
                <a:cs typeface="Aptos"/>
              </a:defRPr>
            </a:pPr>
            <a:r>
              <a:rPr sz="1125">
                <a:solidFill>
                  <a:srgbClr val="B8C4D8"/>
                </a:solidFill>
                <a:latin typeface="Aptos"/>
                <a:ea typeface="Aptos"/>
                <a:cs typeface="Aptos"/>
              </a:rPr>
              <a:t>The quiet systems contribution is traceability.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E4A76A1-C81C-4A49-A3CB-41748F35DF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457200"/>
            <a:ext cx="5334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6F7F99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6F7F99"/>
                </a:solidFill>
                <a:latin typeface="Aptos"/>
                <a:ea typeface="Aptos"/>
                <a:cs typeface="Aptos"/>
              </a:rPr>
              <a:t>05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1A76104-98ED-479E-8743-01B614DCBB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924050"/>
            <a:ext cx="202311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233B"/>
          </a:solidFill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490F6A2-9872-436C-ABE3-8DF3A7DBCA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924050"/>
            <a:ext cx="202311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DD4BF"/>
          </a:solidFill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E17A7D9-C9E5-47D9-9D17-32EFC9D149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209800"/>
            <a:ext cx="1718310" cy="552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8FAFC"/>
                </a:solidFill>
                <a:latin typeface="Aptos Display"/>
                <a:ea typeface="Aptos Display"/>
                <a:cs typeface="Aptos Display"/>
              </a:defRPr>
            </a:pPr>
            <a:r>
              <a:rPr sz="1125" b="1">
                <a:solidFill>
                  <a:srgbClr val="F8FAFC"/>
                </a:solidFill>
                <a:latin typeface="Aptos Display"/>
                <a:ea typeface="Aptos Display"/>
                <a:cs typeface="Aptos Display"/>
              </a:rPr>
              <a:t>Scenario</a:t>
            </a:r>
          </a:p>
          <a:p xmlns:a="http://schemas.openxmlformats.org/drawingml/2006/main">
            <a:pPr algn="ctr">
              <a:defRPr sz="1125" b="1">
                <a:solidFill>
                  <a:srgbClr val="F8FAFC"/>
                </a:solidFill>
                <a:latin typeface="Aptos Display"/>
                <a:ea typeface="Aptos Display"/>
                <a:cs typeface="Aptos Display"/>
              </a:defRPr>
            </a:pPr>
            <a:r>
              <a:rPr sz="1125" b="1">
                <a:solidFill>
                  <a:srgbClr val="F8FAFC"/>
                </a:solidFill>
                <a:latin typeface="Aptos Display"/>
                <a:ea typeface="Aptos Display"/>
                <a:cs typeface="Aptos Display"/>
              </a:rPr>
              <a:t>query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04D0547-0348-4B72-8997-666CB7698D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27960" y="2286000"/>
            <a:ext cx="133350" cy="304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1950">
                <a:solidFill>
                  <a:srgbClr val="6F7F99"/>
                </a:solidFill>
                <a:latin typeface="Aptos Display"/>
                <a:ea typeface="Aptos Display"/>
                <a:cs typeface="Aptos Display"/>
              </a:defRPr>
            </a:pPr>
            <a:r>
              <a:rPr sz="1950">
                <a:solidFill>
                  <a:srgbClr val="6F7F99"/>
                </a:solidFill>
                <a:latin typeface="Aptos Display"/>
                <a:ea typeface="Aptos Display"/>
                <a:cs typeface="Aptos Display"/>
              </a:rPr>
              <a:t>→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79CB5CF-975B-4023-BADE-50261AF361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80360" y="1924050"/>
            <a:ext cx="202311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2E4A"/>
          </a:solidFill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0A4E92F-1CFB-4685-A9D3-9D867A6BF8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80360" y="1924050"/>
            <a:ext cx="202311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DD4BF"/>
          </a:solidFill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144F270-344C-417E-BF25-2650107224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32760" y="2209800"/>
            <a:ext cx="1718310" cy="552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8FAFC"/>
                </a:solidFill>
                <a:latin typeface="Aptos Display"/>
                <a:ea typeface="Aptos Display"/>
                <a:cs typeface="Aptos Display"/>
              </a:defRPr>
            </a:pPr>
            <a:r>
              <a:rPr sz="1125" b="1">
                <a:solidFill>
                  <a:srgbClr val="F8FAFC"/>
                </a:solidFill>
                <a:latin typeface="Aptos Display"/>
                <a:ea typeface="Aptos Display"/>
                <a:cs typeface="Aptos Display"/>
              </a:rPr>
              <a:t>Experiment</a:t>
            </a:r>
          </a:p>
          <a:p xmlns:a="http://schemas.openxmlformats.org/drawingml/2006/main">
            <a:pPr algn="ctr">
              <a:defRPr sz="1125" b="1">
                <a:solidFill>
                  <a:srgbClr val="F8FAFC"/>
                </a:solidFill>
                <a:latin typeface="Aptos Display"/>
                <a:ea typeface="Aptos Display"/>
                <a:cs typeface="Aptos Display"/>
              </a:defRPr>
            </a:pPr>
            <a:r>
              <a:rPr sz="1125" b="1">
                <a:solidFill>
                  <a:srgbClr val="F8FAFC"/>
                </a:solidFill>
                <a:latin typeface="Aptos Display"/>
                <a:ea typeface="Aptos Display"/>
                <a:cs typeface="Aptos Display"/>
              </a:rPr>
              <a:t>runner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E2F7EE8-AF0B-4FF6-9206-AC1D4BAC68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22520" y="2286000"/>
            <a:ext cx="133350" cy="304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1950">
                <a:solidFill>
                  <a:srgbClr val="6F7F99"/>
                </a:solidFill>
                <a:latin typeface="Aptos Display"/>
                <a:ea typeface="Aptos Display"/>
                <a:cs typeface="Aptos Display"/>
              </a:defRPr>
            </a:pPr>
            <a:r>
              <a:rPr sz="1950">
                <a:solidFill>
                  <a:srgbClr val="6F7F99"/>
                </a:solidFill>
                <a:latin typeface="Aptos Display"/>
                <a:ea typeface="Aptos Display"/>
                <a:cs typeface="Aptos Display"/>
              </a:rPr>
              <a:t>→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AEBF75D-C30E-44D7-B7D1-4987D02C73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74920" y="1924050"/>
            <a:ext cx="202311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233B"/>
          </a:solidFill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74771A8-EE3B-4A32-BD4E-CA30E42C8C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74920" y="1924050"/>
            <a:ext cx="202311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DD4BF"/>
          </a:solidFill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CDC25B6-D3E7-4F93-B8F0-FF0937BDC1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27320" y="2209800"/>
            <a:ext cx="1718310" cy="552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8FAFC"/>
                </a:solidFill>
                <a:latin typeface="Aptos Display"/>
                <a:ea typeface="Aptos Display"/>
                <a:cs typeface="Aptos Display"/>
              </a:defRPr>
            </a:pPr>
            <a:r>
              <a:rPr sz="1125" b="1">
                <a:solidFill>
                  <a:srgbClr val="F8FAFC"/>
                </a:solidFill>
                <a:latin typeface="Aptos Display"/>
                <a:ea typeface="Aptos Display"/>
                <a:cs typeface="Aptos Display"/>
              </a:rPr>
              <a:t>A/B/C/Y/Z</a:t>
            </a:r>
          </a:p>
          <a:p xmlns:a="http://schemas.openxmlformats.org/drawingml/2006/main">
            <a:pPr algn="ctr">
              <a:defRPr sz="1125" b="1">
                <a:solidFill>
                  <a:srgbClr val="F8FAFC"/>
                </a:solidFill>
                <a:latin typeface="Aptos Display"/>
                <a:ea typeface="Aptos Display"/>
                <a:cs typeface="Aptos Display"/>
              </a:defRPr>
            </a:pPr>
            <a:r>
              <a:rPr sz="1125" b="1">
                <a:solidFill>
                  <a:srgbClr val="F8FAFC"/>
                </a:solidFill>
                <a:latin typeface="Aptos Display"/>
                <a:ea typeface="Aptos Display"/>
                <a:cs typeface="Aptos Display"/>
              </a:rPr>
              <a:t>cell path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051D4E0-4FE4-446A-8E86-94BF628505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17080" y="2286000"/>
            <a:ext cx="133350" cy="304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1950">
                <a:solidFill>
                  <a:srgbClr val="6F7F99"/>
                </a:solidFill>
                <a:latin typeface="Aptos Display"/>
                <a:ea typeface="Aptos Display"/>
                <a:cs typeface="Aptos Display"/>
              </a:defRPr>
            </a:pPr>
            <a:r>
              <a:rPr sz="1950">
                <a:solidFill>
                  <a:srgbClr val="6F7F99"/>
                </a:solidFill>
                <a:latin typeface="Aptos Display"/>
                <a:ea typeface="Aptos Display"/>
                <a:cs typeface="Aptos Display"/>
              </a:rPr>
              <a:t>→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9B8B0633-9ED1-49F9-B9B0-426B97E340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69480" y="1924050"/>
            <a:ext cx="202311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2E4A"/>
          </a:solidFill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992A8E16-3BA6-4D52-99B5-A19CD9993B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69480" y="1924050"/>
            <a:ext cx="202311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DD4BF"/>
          </a:solidFill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7CC84A12-A036-4990-AABF-EC72EA9853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1880" y="2209800"/>
            <a:ext cx="1718310" cy="552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8FAFC"/>
                </a:solidFill>
                <a:latin typeface="Aptos Display"/>
                <a:ea typeface="Aptos Display"/>
                <a:cs typeface="Aptos Display"/>
              </a:defRPr>
            </a:pPr>
            <a:r>
              <a:rPr sz="1125" b="1">
                <a:solidFill>
                  <a:srgbClr val="F8FAFC"/>
                </a:solidFill>
                <a:latin typeface="Aptos Display"/>
                <a:ea typeface="Aptos Display"/>
                <a:cs typeface="Aptos Display"/>
              </a:rPr>
              <a:t>Raw traces +</a:t>
            </a:r>
          </a:p>
          <a:p xmlns:a="http://schemas.openxmlformats.org/drawingml/2006/main">
            <a:pPr algn="ctr">
              <a:defRPr sz="1125" b="1">
                <a:solidFill>
                  <a:srgbClr val="F8FAFC"/>
                </a:solidFill>
                <a:latin typeface="Aptos Display"/>
                <a:ea typeface="Aptos Display"/>
                <a:cs typeface="Aptos Display"/>
              </a:defRPr>
            </a:pPr>
            <a:r>
              <a:rPr sz="1125" b="1">
                <a:solidFill>
                  <a:srgbClr val="F8FAFC"/>
                </a:solidFill>
                <a:latin typeface="Aptos Display"/>
                <a:ea typeface="Aptos Display"/>
                <a:cs typeface="Aptos Display"/>
              </a:rPr>
              <a:t>summary.json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2D44A19A-8D72-4F07-9D05-A2B942241C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11640" y="2286000"/>
            <a:ext cx="133350" cy="304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1950">
                <a:solidFill>
                  <a:srgbClr val="6F7F99"/>
                </a:solidFill>
                <a:latin typeface="Aptos Display"/>
                <a:ea typeface="Aptos Display"/>
                <a:cs typeface="Aptos Display"/>
              </a:defRPr>
            </a:pPr>
            <a:r>
              <a:rPr sz="1950">
                <a:solidFill>
                  <a:srgbClr val="6F7F99"/>
                </a:solidFill>
                <a:latin typeface="Aptos Display"/>
                <a:ea typeface="Aptos Display"/>
                <a:cs typeface="Aptos Display"/>
              </a:rPr>
              <a:t>→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0142347B-D981-4B4C-9BDA-99BF61535B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64040" y="1924050"/>
            <a:ext cx="202311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233B"/>
          </a:solidFill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800FFB96-48CD-4157-9645-EE130305B4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64040" y="1924050"/>
            <a:ext cx="202311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9E0B"/>
          </a:solidFill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92AB4D23-ED56-4272-9E03-EF4445A2B3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16440" y="2209800"/>
            <a:ext cx="1718310" cy="552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8FAFC"/>
                </a:solidFill>
                <a:latin typeface="Aptos Display"/>
                <a:ea typeface="Aptos Display"/>
                <a:cs typeface="Aptos Display"/>
              </a:defRPr>
            </a:pPr>
            <a:r>
              <a:rPr sz="1125" b="1">
                <a:solidFill>
                  <a:srgbClr val="F8FAFC"/>
                </a:solidFill>
                <a:latin typeface="Aptos Display"/>
                <a:ea typeface="Aptos Display"/>
                <a:cs typeface="Aptos Display"/>
              </a:rPr>
              <a:t>Notebook +</a:t>
            </a:r>
          </a:p>
          <a:p xmlns:a="http://schemas.openxmlformats.org/drawingml/2006/main">
            <a:pPr algn="ctr">
              <a:defRPr sz="1125" b="1">
                <a:solidFill>
                  <a:srgbClr val="F8FAFC"/>
                </a:solidFill>
                <a:latin typeface="Aptos Display"/>
                <a:ea typeface="Aptos Display"/>
                <a:cs typeface="Aptos Display"/>
              </a:defRPr>
            </a:pPr>
            <a:r>
              <a:rPr sz="1125" b="1">
                <a:solidFill>
                  <a:srgbClr val="F8FAFC"/>
                </a:solidFill>
                <a:latin typeface="Aptos Display"/>
                <a:ea typeface="Aptos Display"/>
                <a:cs typeface="Aptos Display"/>
              </a:rPr>
              <a:t>judge exports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8D862121-A562-4BAC-8D2F-2833E58FA9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3714750"/>
            <a:ext cx="3028950" cy="1352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233B"/>
          </a:solidFill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D203BAA8-6E0C-4865-BD78-B6B0B6008F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3714750"/>
            <a:ext cx="30289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8BDF8"/>
          </a:solidFill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5B6C8ABD-1387-4ADC-A43D-3875ECDB4E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3905250"/>
            <a:ext cx="264795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F8FAFC"/>
                </a:solidFill>
                <a:latin typeface="Aptos Display"/>
                <a:ea typeface="Aptos Display"/>
                <a:cs typeface="Aptos Display"/>
              </a:defRPr>
            </a:pPr>
            <a:r>
              <a:rPr sz="1425" b="1">
                <a:solidFill>
                  <a:srgbClr val="F8FAFC"/>
                </a:solidFill>
                <a:latin typeface="Aptos Display"/>
                <a:ea typeface="Aptos Display"/>
                <a:cs typeface="Aptos Display"/>
              </a:rPr>
              <a:t>Transport axis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DF435C73-7BCE-44BB-A252-BDC9E5F9E4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4305300"/>
            <a:ext cx="2647950" cy="571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050">
                <a:solidFill>
                  <a:srgbClr val="B8C4D8"/>
                </a:solidFill>
                <a:latin typeface="Aptos"/>
                <a:ea typeface="Aptos"/>
                <a:cs typeface="Aptos"/>
              </a:defRPr>
            </a:pPr>
            <a:r>
              <a:rPr sz="1050">
                <a:solidFill>
                  <a:srgbClr val="B8C4D8"/>
                </a:solidFill>
                <a:latin typeface="Aptos"/>
                <a:ea typeface="Aptos"/>
                <a:cs typeface="Aptos"/>
              </a:rPr>
              <a:t>A direct tools vs B MCP baseline vs C optimized MCP. Same Agent-as-Tool orchestration.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384D0EF8-CF7F-4353-AA43-F9E5220945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1050" y="3714750"/>
            <a:ext cx="3028950" cy="1352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233B"/>
          </a:solidFill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56B221A6-F1BB-4A86-87C2-DAB641E78D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1050" y="3714750"/>
            <a:ext cx="30289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9E0B"/>
          </a:solidFill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09A3F3B1-E198-49D5-9C27-886E31ABCF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81550" y="3905250"/>
            <a:ext cx="264795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F8FAFC"/>
                </a:solidFill>
                <a:latin typeface="Aptos Display"/>
                <a:ea typeface="Aptos Display"/>
                <a:cs typeface="Aptos Display"/>
              </a:defRPr>
            </a:pPr>
            <a:r>
              <a:rPr sz="1425" b="1">
                <a:solidFill>
                  <a:srgbClr val="F8FAFC"/>
                </a:solidFill>
                <a:latin typeface="Aptos Display"/>
                <a:ea typeface="Aptos Display"/>
                <a:cs typeface="Aptos Display"/>
              </a:rPr>
              <a:t>Orchestration axis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A6977513-3A44-4E1C-93BD-60FAC312D2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81550" y="4305300"/>
            <a:ext cx="2647950" cy="571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050">
                <a:solidFill>
                  <a:srgbClr val="B8C4D8"/>
                </a:solidFill>
                <a:latin typeface="Aptos"/>
                <a:ea typeface="Aptos"/>
                <a:cs typeface="Aptos"/>
              </a:defRPr>
            </a:pPr>
            <a:r>
              <a:rPr sz="1050">
                <a:solidFill>
                  <a:srgbClr val="B8C4D8"/>
                </a:solidFill>
                <a:latin typeface="Aptos"/>
                <a:ea typeface="Aptos"/>
                <a:cs typeface="Aptos"/>
              </a:rPr>
              <a:t>B Agent-as-Tool anchors the comparison against Plan-Execute and Verified PE.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12B7B1B8-0F9C-412C-B9CB-B1F15E4C7A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4350" y="3714750"/>
            <a:ext cx="3028950" cy="1352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233B"/>
          </a:solidFill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FD02961F-03BF-4443-9203-850DFE9157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4350" y="3714750"/>
            <a:ext cx="30289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DD4BF"/>
          </a:solidFill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F28415C9-5BA8-4E89-AF9F-3009FEB02C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4850" y="3905250"/>
            <a:ext cx="264795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F8FAFC"/>
                </a:solidFill>
                <a:latin typeface="Aptos Display"/>
                <a:ea typeface="Aptos Display"/>
                <a:cs typeface="Aptos Display"/>
              </a:defRPr>
            </a:pPr>
            <a:r>
              <a:rPr sz="1425" b="1">
                <a:solidFill>
                  <a:srgbClr val="F8FAFC"/>
                </a:solidFill>
                <a:latin typeface="Aptos Display"/>
                <a:ea typeface="Aptos Display"/>
                <a:cs typeface="Aptos Display"/>
              </a:rPr>
              <a:t>Evidence axis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7264B647-9388-49A5-929D-86F3CA6CDD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4850" y="4305300"/>
            <a:ext cx="2647950" cy="571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050">
                <a:solidFill>
                  <a:srgbClr val="B8C4D8"/>
                </a:solidFill>
                <a:latin typeface="Aptos"/>
                <a:ea typeface="Aptos"/>
                <a:cs typeface="Aptos"/>
              </a:defRPr>
            </a:pPr>
            <a:r>
              <a:rPr sz="1050">
                <a:solidFill>
                  <a:srgbClr val="B8C4D8"/>
                </a:solidFill>
                <a:latin typeface="Aptos"/>
                <a:ea typeface="Aptos"/>
                <a:cs typeface="Aptos"/>
              </a:rPr>
              <a:t>Latency, judge scores, raw JSON, W&amp;B links, and failure taxonomy remain joinable by run/cell/scenario.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BFA0B1EE-C932-4842-8C46-DE1C444AE3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38900"/>
            <a:ext cx="103632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750">
                <a:solidFill>
                  <a:srgbClr val="6F7F99"/>
                </a:solidFill>
                <a:latin typeface="Aptos"/>
                <a:ea typeface="Aptos"/>
                <a:cs typeface="Aptos"/>
              </a:defRPr>
            </a:pPr>
            <a:r>
              <a:rPr sz="750">
                <a:solidFill>
                  <a:srgbClr val="6F7F99"/>
                </a:solidFill>
                <a:latin typeface="Aptos"/>
                <a:ea typeface="Aptos"/>
                <a:cs typeface="Aptos"/>
              </a:rPr>
              <a:t>Sources: scripts/run_experiment.sh, benchmarks/cell_&lt;X&gt;/, docs/validation_log.md.</a:t>
            </a:r>
          </a:p>
        </p:txBody>
      </p:sp>
    </p:spTree>
    <p:extLst>
      <p:ext uri="{BB962C8B-B14F-4D97-AF65-F5344CB8AC3E}">
        <p14:creationId xmlns:p14="http://schemas.microsoft.com/office/powerpoint/2010/main" val="1034512519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0A102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1A6554C5-2ED6-4EC4-8619-DC379CDB22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1020"/>
          </a:solidFill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712F557-E6D0-40A9-905F-D9A8466F58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DD4BF"/>
          </a:solidFill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900E2E2-447C-449F-A4B4-7469B3D6E6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0" y="0"/>
            <a:ext cx="2095500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9E0B"/>
          </a:solidFill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CB0A3CD-E76F-4246-8787-C38FAD9B63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457200"/>
            <a:ext cx="3810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DD4BF"/>
          </a:solidFill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2F4A543-E4D0-4353-9FDF-6CBCD11411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34290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2DD4BF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2DD4BF"/>
                </a:solidFill>
                <a:latin typeface="Aptos"/>
                <a:ea typeface="Aptos"/>
                <a:cs typeface="Aptos"/>
              </a:rPr>
              <a:t>DESIGN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41ED71C-C767-4F35-A8DD-88C678EC82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66750"/>
            <a:ext cx="8858250" cy="666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F8FAFC"/>
                </a:solidFill>
                <a:latin typeface="Aptos Display"/>
                <a:ea typeface="Aptos Display"/>
                <a:cs typeface="Aptos Display"/>
              </a:defRPr>
            </a:pPr>
            <a:r>
              <a:rPr sz="2100" b="1">
                <a:solidFill>
                  <a:srgbClr val="F8FAFC"/>
                </a:solidFill>
                <a:latin typeface="Aptos Display"/>
                <a:ea typeface="Aptos Display"/>
                <a:cs typeface="Aptos Display"/>
              </a:rPr>
              <a:t>We separate transport effects from orchestration effects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624B879-A300-4FAA-A8A8-FBA148F490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43050"/>
            <a:ext cx="885825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125">
                <a:solidFill>
                  <a:srgbClr val="B8C4D8"/>
                </a:solidFill>
                <a:latin typeface="Aptos"/>
                <a:ea typeface="Aptos"/>
                <a:cs typeface="Aptos"/>
              </a:defRPr>
            </a:pPr>
            <a:r>
              <a:rPr sz="1125">
                <a:solidFill>
                  <a:srgbClr val="B8C4D8"/>
                </a:solidFill>
                <a:latin typeface="Aptos"/>
                <a:ea typeface="Aptos"/>
                <a:cs typeface="Aptos"/>
              </a:rPr>
              <a:t>No underpowered full cartesian grid.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F24EF2E-12DF-44B2-9550-D3ACE38D72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457200"/>
            <a:ext cx="5334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6F7F99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6F7F99"/>
                </a:solidFill>
                <a:latin typeface="Aptos"/>
                <a:ea typeface="Aptos"/>
                <a:cs typeface="Aptos"/>
              </a:rPr>
              <a:t>06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C8748D8-D301-416D-A20E-68D2290DC4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962150"/>
            <a:ext cx="792480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2E4A"/>
          </a:solidFill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F0D8E74-788C-408D-B910-E3378BB13D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076450"/>
            <a:ext cx="123825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2DD4BF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2DD4BF"/>
                </a:solidFill>
                <a:latin typeface="Aptos"/>
                <a:ea typeface="Aptos"/>
                <a:cs typeface="Aptos"/>
              </a:rPr>
              <a:t>Experiment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0C80288-0F8F-4D40-9C2A-722901264C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62200" y="2076450"/>
            <a:ext cx="123825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2DD4BF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2DD4BF"/>
                </a:solidFill>
                <a:latin typeface="Aptos"/>
                <a:ea typeface="Aptos"/>
                <a:cs typeface="Aptos"/>
              </a:rPr>
              <a:t>Cells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E789A9F-4EA3-47F3-B72D-30660D2001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90950" y="2076450"/>
            <a:ext cx="219075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2DD4BF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2DD4BF"/>
                </a:solidFill>
                <a:latin typeface="Aptos"/>
                <a:ea typeface="Aptos"/>
                <a:cs typeface="Aptos"/>
              </a:rPr>
              <a:t>What changes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5EA5254-4D02-4BE5-9E0F-502E2C1307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2076450"/>
            <a:ext cx="249555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2DD4BF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2DD4BF"/>
                </a:solidFill>
                <a:latin typeface="Aptos"/>
                <a:ea typeface="Aptos"/>
                <a:cs typeface="Aptos"/>
              </a:rPr>
              <a:t>Primary readout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B6D961D-3792-4739-91AC-04BF0B5C98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552700"/>
            <a:ext cx="792480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2139"/>
          </a:solidFill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1C1DED0-A590-4C29-B4D8-A87F7AC6A6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667000"/>
            <a:ext cx="123825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863" b="0">
                <a:solidFill>
                  <a:srgbClr val="B8C4D8"/>
                </a:solidFill>
                <a:latin typeface="Aptos"/>
                <a:ea typeface="Aptos"/>
                <a:cs typeface="Aptos"/>
              </a:defRPr>
            </a:pPr>
            <a:r>
              <a:rPr sz="863" b="0">
                <a:solidFill>
                  <a:srgbClr val="B8C4D8"/>
                </a:solidFill>
                <a:latin typeface="Aptos"/>
                <a:ea typeface="Aptos"/>
                <a:cs typeface="Aptos"/>
              </a:rPr>
              <a:t>Transport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1967D9D-1E0E-46A3-AE23-BE6B504106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62200" y="2667000"/>
            <a:ext cx="123825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863" b="0">
                <a:solidFill>
                  <a:srgbClr val="B8C4D8"/>
                </a:solidFill>
                <a:latin typeface="Aptos"/>
                <a:ea typeface="Aptos"/>
                <a:cs typeface="Aptos"/>
              </a:defRPr>
            </a:pPr>
            <a:r>
              <a:rPr sz="863" b="0">
                <a:solidFill>
                  <a:srgbClr val="B8C4D8"/>
                </a:solidFill>
                <a:latin typeface="Aptos"/>
                <a:ea typeface="Aptos"/>
                <a:cs typeface="Aptos"/>
              </a:rPr>
              <a:t>A / B / C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1484835-C75F-4BC3-B126-7B1A0862F2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90950" y="2667000"/>
            <a:ext cx="219075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863" b="0">
                <a:solidFill>
                  <a:srgbClr val="B8C4D8"/>
                </a:solidFill>
                <a:latin typeface="Aptos"/>
                <a:ea typeface="Aptos"/>
                <a:cs typeface="Aptos"/>
              </a:defRPr>
            </a:pPr>
            <a:r>
              <a:rPr sz="863" b="0">
                <a:solidFill>
                  <a:srgbClr val="B8C4D8"/>
                </a:solidFill>
                <a:latin typeface="Aptos"/>
                <a:ea typeface="Aptos"/>
                <a:cs typeface="Aptos"/>
              </a:rPr>
              <a:t>Tool interface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3D85ECF-4175-4345-A6C8-8FBA1F8452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2667000"/>
            <a:ext cx="249555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863" b="0">
                <a:solidFill>
                  <a:srgbClr val="B8C4D8"/>
                </a:solidFill>
                <a:latin typeface="Aptos"/>
                <a:ea typeface="Aptos"/>
                <a:cs typeface="Aptos"/>
              </a:defRPr>
            </a:pPr>
            <a:r>
              <a:rPr sz="863" b="0">
                <a:solidFill>
                  <a:srgbClr val="B8C4D8"/>
                </a:solidFill>
                <a:latin typeface="Aptos"/>
                <a:ea typeface="Aptos"/>
                <a:cs typeface="Aptos"/>
              </a:rPr>
              <a:t>Latency + quality caveat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5004E94-5856-4A91-BC55-E4DE7594AE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143250"/>
            <a:ext cx="792480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C31"/>
          </a:solidFill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A0C6D6A-F2C3-4A4F-9684-6AF4F84AA0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257550"/>
            <a:ext cx="123825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863" b="0">
                <a:solidFill>
                  <a:srgbClr val="B8C4D8"/>
                </a:solidFill>
                <a:latin typeface="Aptos"/>
                <a:ea typeface="Aptos"/>
                <a:cs typeface="Aptos"/>
              </a:defRPr>
            </a:pPr>
            <a:r>
              <a:rPr sz="863" b="0">
                <a:solidFill>
                  <a:srgbClr val="B8C4D8"/>
                </a:solidFill>
                <a:latin typeface="Aptos"/>
                <a:ea typeface="Aptos"/>
                <a:cs typeface="Aptos"/>
              </a:rPr>
              <a:t>Orchestration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0D97F484-80C5-41A9-8F4F-F066A4890B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62200" y="3257550"/>
            <a:ext cx="123825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863" b="0">
                <a:solidFill>
                  <a:srgbClr val="B8C4D8"/>
                </a:solidFill>
                <a:latin typeface="Aptos"/>
                <a:ea typeface="Aptos"/>
                <a:cs typeface="Aptos"/>
              </a:defRPr>
            </a:pPr>
            <a:r>
              <a:rPr sz="863" b="0">
                <a:solidFill>
                  <a:srgbClr val="B8C4D8"/>
                </a:solidFill>
                <a:latin typeface="Aptos"/>
                <a:ea typeface="Aptos"/>
                <a:cs typeface="Aptos"/>
              </a:rPr>
              <a:t>B / Y / Z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012471DD-6291-435B-90B7-99F16B0FC8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90950" y="3257550"/>
            <a:ext cx="219075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863" b="0">
                <a:solidFill>
                  <a:srgbClr val="B8C4D8"/>
                </a:solidFill>
                <a:latin typeface="Aptos"/>
                <a:ea typeface="Aptos"/>
                <a:cs typeface="Aptos"/>
              </a:defRPr>
            </a:pPr>
            <a:r>
              <a:rPr sz="863" b="0">
                <a:solidFill>
                  <a:srgbClr val="B8C4D8"/>
                </a:solidFill>
                <a:latin typeface="Aptos"/>
                <a:ea typeface="Aptos"/>
                <a:cs typeface="Aptos"/>
              </a:rPr>
              <a:t>Agent strategy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074338F6-6E5B-4914-A1C5-3C94F59CF0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3257550"/>
            <a:ext cx="249555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863" b="0">
                <a:solidFill>
                  <a:srgbClr val="B8C4D8"/>
                </a:solidFill>
                <a:latin typeface="Aptos"/>
                <a:ea typeface="Aptos"/>
                <a:cs typeface="Aptos"/>
              </a:defRPr>
            </a:pPr>
            <a:r>
              <a:rPr sz="863" b="0">
                <a:solidFill>
                  <a:srgbClr val="B8C4D8"/>
                </a:solidFill>
                <a:latin typeface="Aptos"/>
                <a:ea typeface="Aptos"/>
                <a:cs typeface="Aptos"/>
              </a:rPr>
              <a:t>Success + judge quality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581BC564-9FCF-463F-9DAD-86C9E6FB8F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733800"/>
            <a:ext cx="792480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2139"/>
          </a:solidFill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C6DA6658-A70D-4CAB-B5CF-DA72900BF6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848100"/>
            <a:ext cx="123825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863" b="0">
                <a:solidFill>
                  <a:srgbClr val="B8C4D8"/>
                </a:solidFill>
                <a:latin typeface="Aptos"/>
                <a:ea typeface="Aptos"/>
                <a:cs typeface="Aptos"/>
              </a:defRPr>
            </a:pPr>
            <a:r>
              <a:rPr sz="863" b="0">
                <a:solidFill>
                  <a:srgbClr val="B8C4D8"/>
                </a:solidFill>
                <a:latin typeface="Aptos"/>
                <a:ea typeface="Aptos"/>
                <a:cs typeface="Aptos"/>
              </a:rPr>
              <a:t>Follow-on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A0C0FFE3-B588-4006-AC29-A3E26E2712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62200" y="3848100"/>
            <a:ext cx="123825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863" b="0">
                <a:solidFill>
                  <a:srgbClr val="B8C4D8"/>
                </a:solidFill>
                <a:latin typeface="Aptos"/>
                <a:ea typeface="Aptos"/>
                <a:cs typeface="Aptos"/>
              </a:defRPr>
            </a:pPr>
            <a:r>
              <a:rPr sz="863" b="0">
                <a:solidFill>
                  <a:srgbClr val="B8C4D8"/>
                </a:solidFill>
                <a:latin typeface="Aptos"/>
                <a:ea typeface="Aptos"/>
                <a:cs typeface="Aptos"/>
              </a:rPr>
              <a:t>YS / ZS / ZSD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D160B933-1A5D-4D29-A35C-7CF1BC4419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90950" y="3848100"/>
            <a:ext cx="219075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863" b="0">
                <a:solidFill>
                  <a:srgbClr val="B8C4D8"/>
                </a:solidFill>
                <a:latin typeface="Aptos"/>
                <a:ea typeface="Aptos"/>
                <a:cs typeface="Aptos"/>
              </a:defRPr>
            </a:pPr>
            <a:r>
              <a:rPr sz="863" b="0">
                <a:solidFill>
                  <a:srgbClr val="B8C4D8"/>
                </a:solidFill>
                <a:latin typeface="Aptos"/>
                <a:ea typeface="Aptos"/>
                <a:cs typeface="Aptos"/>
              </a:rPr>
              <a:t>Mitigation ladder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35206ABE-0E98-444C-88F1-ED46253BB7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3848100"/>
            <a:ext cx="249555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863" b="0">
                <a:solidFill>
                  <a:srgbClr val="B8C4D8"/>
                </a:solidFill>
                <a:latin typeface="Aptos"/>
                <a:ea typeface="Aptos"/>
                <a:cs typeface="Aptos"/>
              </a:defRPr>
            </a:pPr>
            <a:r>
              <a:rPr sz="863" b="0">
                <a:solidFill>
                  <a:srgbClr val="B8C4D8"/>
                </a:solidFill>
                <a:latin typeface="Aptos"/>
                <a:ea typeface="Aptos"/>
                <a:cs typeface="Aptos"/>
              </a:rPr>
              <a:t>Evidence repair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602A58E5-4B3B-47D9-8A7F-19750BD2D3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82100" y="1962150"/>
            <a:ext cx="2038350" cy="2362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233B"/>
          </a:solidFill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C6F05B16-69BE-4298-9849-5EAA7D985E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82100" y="1962150"/>
            <a:ext cx="20383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DD4BF"/>
          </a:solidFill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09CD1AF2-0FCD-4A48-A571-47DCB8A3D3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72600" y="2152650"/>
            <a:ext cx="165735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F8FAFC"/>
                </a:solidFill>
                <a:latin typeface="Aptos Display"/>
                <a:ea typeface="Aptos Display"/>
                <a:cs typeface="Aptos Display"/>
              </a:defRPr>
            </a:pPr>
            <a:r>
              <a:rPr sz="1425" b="1">
                <a:solidFill>
                  <a:srgbClr val="F8FAFC"/>
                </a:solidFill>
                <a:latin typeface="Aptos Display"/>
                <a:ea typeface="Aptos Display"/>
                <a:cs typeface="Aptos Display"/>
              </a:rPr>
              <a:t>Anchor cell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562DFD53-9BD7-4ECC-977B-CD5C994980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72600" y="2552700"/>
            <a:ext cx="1657350" cy="15811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050">
                <a:solidFill>
                  <a:srgbClr val="B8C4D8"/>
                </a:solidFill>
                <a:latin typeface="Aptos"/>
                <a:ea typeface="Aptos"/>
                <a:cs typeface="Aptos"/>
              </a:defRPr>
            </a:pPr>
            <a:r>
              <a:rPr sz="1050">
                <a:solidFill>
                  <a:srgbClr val="B8C4D8"/>
                </a:solidFill>
                <a:latin typeface="Aptos"/>
                <a:ea typeface="Aptos"/>
                <a:cs typeface="Aptos"/>
              </a:rPr>
              <a:t>B is both the MCP baseline in Experiment 1 and the Agent-as-Tool baseline in Experiment 2.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B3521400-0205-4262-A231-110E3D16D8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5500" y="4762500"/>
            <a:ext cx="800100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233B"/>
          </a:solidFill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3A01D372-0490-42CA-A011-DF0823E1B6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5500" y="4762500"/>
            <a:ext cx="80010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9E0B"/>
          </a:solidFill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551A55D3-E938-4FB3-ABA9-5C0091C81C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0" y="4953000"/>
            <a:ext cx="762000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F8FAFC"/>
                </a:solidFill>
                <a:latin typeface="Aptos Display"/>
                <a:ea typeface="Aptos Display"/>
                <a:cs typeface="Aptos Display"/>
              </a:defRPr>
            </a:pPr>
            <a:r>
              <a:rPr sz="1425" b="1">
                <a:solidFill>
                  <a:srgbClr val="F8FAFC"/>
                </a:solidFill>
                <a:latin typeface="Aptos Display"/>
                <a:ea typeface="Aptos Display"/>
                <a:cs typeface="Aptos Display"/>
              </a:rPr>
              <a:t>Avoid saying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57BC8C02-8D55-4A02-AC22-8DC2256DA1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0" y="5353050"/>
            <a:ext cx="76200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050">
                <a:solidFill>
                  <a:srgbClr val="B8C4D8"/>
                </a:solidFill>
                <a:latin typeface="Aptos"/>
                <a:ea typeface="Aptos"/>
                <a:cs typeface="Aptos"/>
              </a:defRPr>
            </a:pPr>
            <a:r>
              <a:rPr sz="1050">
                <a:solidFill>
                  <a:srgbClr val="B8C4D8"/>
                </a:solidFill>
                <a:latin typeface="Aptos"/>
                <a:ea typeface="Aptos"/>
                <a:cs typeface="Aptos"/>
              </a:rPr>
              <a:t>"MCP is faster" or "PE is better" globally. The claim is scoped by cell, transport, and artifact evidence.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64D63FE4-9230-4640-B96B-35A8AF8FC4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38900"/>
            <a:ext cx="103632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750">
                <a:solidFill>
                  <a:srgbClr val="6F7F99"/>
                </a:solidFill>
                <a:latin typeface="Aptos"/>
                <a:ea typeface="Aptos"/>
                <a:cs typeface="Aptos"/>
              </a:defRPr>
            </a:pPr>
            <a:r>
              <a:rPr sz="750">
                <a:solidFill>
                  <a:srgbClr val="6F7F99"/>
                </a:solidFill>
                <a:latin typeface="Aptos"/>
                <a:ea typeface="Aptos"/>
                <a:cs typeface="Aptos"/>
              </a:rPr>
              <a:t>Sources: docs/experiment_matrix.md, docs/neurips_submission_packet.md.</a:t>
            </a:r>
          </a:p>
        </p:txBody>
      </p:sp>
    </p:spTree>
    <p:extLst>
      <p:ext uri="{BB962C8B-B14F-4D97-AF65-F5344CB8AC3E}">
        <p14:creationId xmlns:p14="http://schemas.microsoft.com/office/powerpoint/2010/main" val="463506460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0A102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15485C44-EF9F-4FC1-8707-134AA21214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1020"/>
          </a:solidFill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BEB1D0C-F9C8-4E4B-BA99-2944D809E1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DD4BF"/>
          </a:solidFill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9AEA99B-02D0-4510-8C63-9F1673EE98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0" y="0"/>
            <a:ext cx="2095500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9E0B"/>
          </a:solidFill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EA1DC74-659F-49D5-8AD0-D8C34681FD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457200"/>
            <a:ext cx="3810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DD4BF"/>
          </a:solidFill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1DAA062-0250-45FE-8DCC-6157BE817E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34290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2DD4BF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2DD4BF"/>
                </a:solidFill>
                <a:latin typeface="Aptos"/>
                <a:ea typeface="Aptos"/>
                <a:cs typeface="Aptos"/>
              </a:rPr>
              <a:t>RESULT 1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9A51584-41E9-4A43-88E7-9D74B9B4BB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66750"/>
            <a:ext cx="8858250" cy="666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F8FAFC"/>
                </a:solidFill>
                <a:latin typeface="Aptos Display"/>
                <a:ea typeface="Aptos Display"/>
                <a:cs typeface="Aptos Display"/>
              </a:defRPr>
            </a:pPr>
            <a:r>
              <a:rPr sz="2100" b="1">
                <a:solidFill>
                  <a:srgbClr val="F8FAFC"/>
                </a:solidFill>
                <a:latin typeface="Aptos Display"/>
                <a:ea typeface="Aptos Display"/>
                <a:cs typeface="Aptos Display"/>
              </a:rPr>
              <a:t>MCP transport has a cost; optimization changes the latency shape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1317480-8D8E-4FB7-93DC-AED0F62CE4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43050"/>
            <a:ext cx="885825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125">
                <a:solidFill>
                  <a:srgbClr val="B8C4D8"/>
                </a:solidFill>
                <a:latin typeface="Aptos"/>
                <a:ea typeface="Aptos"/>
                <a:cs typeface="Aptos"/>
              </a:defRPr>
            </a:pPr>
            <a:r>
              <a:rPr sz="1125">
                <a:solidFill>
                  <a:srgbClr val="B8C4D8"/>
                </a:solidFill>
                <a:latin typeface="Aptos"/>
                <a:ea typeface="Aptos"/>
                <a:cs typeface="Aptos"/>
              </a:rPr>
              <a:t>First six-trial capture, not a final rerun distribution.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B919733-0F15-497A-99CB-CC00A6EDDD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457200"/>
            <a:ext cx="5334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6F7F99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6F7F99"/>
                </a:solidFill>
                <a:latin typeface="Aptos"/>
                <a:ea typeface="Aptos"/>
                <a:cs typeface="Aptos"/>
              </a:rPr>
              <a:t>07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62E25F9-29CC-40DF-9BBA-F672280B2C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000250"/>
            <a:ext cx="5810250" cy="45243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2E4A"/>
          </a:solidFill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97710CF-2DC9-487B-BAB2-E2866BC104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114550"/>
            <a:ext cx="762000" cy="20478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2DD4BF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2DD4BF"/>
                </a:solidFill>
                <a:latin typeface="Aptos"/>
                <a:ea typeface="Aptos"/>
                <a:cs typeface="Aptos"/>
              </a:rPr>
              <a:t>Cell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EA075B1-802C-498F-9EFB-77666F465D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2114550"/>
            <a:ext cx="1809750" cy="20478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2DD4BF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2DD4BF"/>
                </a:solidFill>
                <a:latin typeface="Aptos"/>
                <a:ea typeface="Aptos"/>
                <a:cs typeface="Aptos"/>
              </a:rPr>
              <a:t>Meaning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57D85C1-EC21-49FE-8CEF-2361C94F93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2114550"/>
            <a:ext cx="666750" cy="20478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2DD4BF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2DD4BF"/>
                </a:solidFill>
                <a:latin typeface="Aptos"/>
                <a:ea typeface="Aptos"/>
                <a:cs typeface="Aptos"/>
              </a:rPr>
              <a:t>p50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3C8B93A-EE6E-4B9D-B6D9-3FE1790A82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2114550"/>
            <a:ext cx="666750" cy="20478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2DD4BF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2DD4BF"/>
                </a:solidFill>
                <a:latin typeface="Aptos"/>
                <a:ea typeface="Aptos"/>
                <a:cs typeface="Aptos"/>
              </a:rPr>
              <a:t>p95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24C357F-228E-48BA-A666-BC1F661BDC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0" y="2114550"/>
            <a:ext cx="952500" cy="20478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2DD4BF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2DD4BF"/>
                </a:solidFill>
                <a:latin typeface="Aptos"/>
                <a:ea typeface="Aptos"/>
                <a:cs typeface="Aptos"/>
              </a:rPr>
              <a:t>Judge pass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4EF0DBB-6997-46F1-BC8E-564489AD81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471738"/>
            <a:ext cx="5810250" cy="45243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2139"/>
          </a:solidFill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BDABC54-618E-4E22-AA8D-81D5398538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586038"/>
            <a:ext cx="762000" cy="20478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863" b="0">
                <a:solidFill>
                  <a:srgbClr val="B8C4D8"/>
                </a:solidFill>
                <a:latin typeface="Aptos"/>
                <a:ea typeface="Aptos"/>
                <a:cs typeface="Aptos"/>
              </a:defRPr>
            </a:pPr>
            <a:r>
              <a:rPr sz="863" b="0">
                <a:solidFill>
                  <a:srgbClr val="B8C4D8"/>
                </a:solidFill>
                <a:latin typeface="Aptos"/>
                <a:ea typeface="Aptos"/>
                <a:cs typeface="Aptos"/>
              </a:rPr>
              <a:t>A / AT-I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C1B79AA-A9C4-4DEA-A737-1A94C53088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2586038"/>
            <a:ext cx="1809750" cy="20478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863" b="0">
                <a:solidFill>
                  <a:srgbClr val="B8C4D8"/>
                </a:solidFill>
                <a:latin typeface="Aptos"/>
                <a:ea typeface="Aptos"/>
                <a:cs typeface="Aptos"/>
              </a:defRPr>
            </a:pPr>
            <a:r>
              <a:rPr sz="863" b="0">
                <a:solidFill>
                  <a:srgbClr val="B8C4D8"/>
                </a:solidFill>
                <a:latin typeface="Aptos"/>
                <a:ea typeface="Aptos"/>
                <a:cs typeface="Aptos"/>
              </a:rPr>
              <a:t>Direct tools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B6BFD8B-CA64-4679-AF42-0D5389DAF8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2586038"/>
            <a:ext cx="666750" cy="20478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863" b="0">
                <a:solidFill>
                  <a:srgbClr val="B8C4D8"/>
                </a:solidFill>
                <a:latin typeface="Aptos"/>
                <a:ea typeface="Aptos"/>
                <a:cs typeface="Aptos"/>
              </a:defRPr>
            </a:pPr>
            <a:r>
              <a:rPr sz="863" b="0">
                <a:solidFill>
                  <a:srgbClr val="B8C4D8"/>
                </a:solidFill>
                <a:latin typeface="Aptos"/>
                <a:ea typeface="Aptos"/>
                <a:cs typeface="Aptos"/>
              </a:rPr>
              <a:t>12.15s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AD2436A-8034-4094-A8DE-64FE951FC2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2586038"/>
            <a:ext cx="666750" cy="20478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863" b="0">
                <a:solidFill>
                  <a:srgbClr val="B8C4D8"/>
                </a:solidFill>
                <a:latin typeface="Aptos"/>
                <a:ea typeface="Aptos"/>
                <a:cs typeface="Aptos"/>
              </a:defRPr>
            </a:pPr>
            <a:r>
              <a:rPr sz="863" b="0">
                <a:solidFill>
                  <a:srgbClr val="B8C4D8"/>
                </a:solidFill>
                <a:latin typeface="Aptos"/>
                <a:ea typeface="Aptos"/>
                <a:cs typeface="Aptos"/>
              </a:rPr>
              <a:t>17.29s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2E72EF2-A49F-487E-BDE9-E0E8C1E1CA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0" y="2586038"/>
            <a:ext cx="952500" cy="20478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863" b="0">
                <a:solidFill>
                  <a:srgbClr val="B8C4D8"/>
                </a:solidFill>
                <a:latin typeface="Aptos"/>
                <a:ea typeface="Aptos"/>
                <a:cs typeface="Aptos"/>
              </a:defRPr>
            </a:pPr>
            <a:r>
              <a:rPr sz="863" b="0">
                <a:solidFill>
                  <a:srgbClr val="B8C4D8"/>
                </a:solidFill>
                <a:latin typeface="Aptos"/>
                <a:ea typeface="Aptos"/>
                <a:cs typeface="Aptos"/>
              </a:rPr>
              <a:t>1/6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457458AB-8228-4C0C-9638-765AD8EBC4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943225"/>
            <a:ext cx="5810250" cy="45243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C31"/>
          </a:solidFill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002330A5-2200-4F6E-815B-250E552FF9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057525"/>
            <a:ext cx="762000" cy="20478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863" b="0">
                <a:solidFill>
                  <a:srgbClr val="B8C4D8"/>
                </a:solidFill>
                <a:latin typeface="Aptos"/>
                <a:ea typeface="Aptos"/>
                <a:cs typeface="Aptos"/>
              </a:defRPr>
            </a:pPr>
            <a:r>
              <a:rPr sz="863" b="0">
                <a:solidFill>
                  <a:srgbClr val="B8C4D8"/>
                </a:solidFill>
                <a:latin typeface="Aptos"/>
                <a:ea typeface="Aptos"/>
                <a:cs typeface="Aptos"/>
              </a:rPr>
              <a:t>B / AT-M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A927D9F5-F051-4AD1-A9F8-BA464762D9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3057525"/>
            <a:ext cx="1809750" cy="20478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863" b="0">
                <a:solidFill>
                  <a:srgbClr val="B8C4D8"/>
                </a:solidFill>
                <a:latin typeface="Aptos"/>
                <a:ea typeface="Aptos"/>
                <a:cs typeface="Aptos"/>
              </a:defRPr>
            </a:pPr>
            <a:r>
              <a:rPr sz="863" b="0">
                <a:solidFill>
                  <a:srgbClr val="B8C4D8"/>
                </a:solidFill>
                <a:latin typeface="Aptos"/>
                <a:ea typeface="Aptos"/>
                <a:cs typeface="Aptos"/>
              </a:rPr>
              <a:t>MCP baseline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EF316915-984A-4C7C-B2C5-521BDAA5C2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3057525"/>
            <a:ext cx="666750" cy="20478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863" b="0">
                <a:solidFill>
                  <a:srgbClr val="B8C4D8"/>
                </a:solidFill>
                <a:latin typeface="Aptos"/>
                <a:ea typeface="Aptos"/>
                <a:cs typeface="Aptos"/>
              </a:defRPr>
            </a:pPr>
            <a:r>
              <a:rPr sz="863" b="0">
                <a:solidFill>
                  <a:srgbClr val="B8C4D8"/>
                </a:solidFill>
                <a:latin typeface="Aptos"/>
                <a:ea typeface="Aptos"/>
                <a:cs typeface="Aptos"/>
              </a:rPr>
              <a:t>13.09s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D7AD859C-4B04-4D7D-8D96-DB3759A805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3057525"/>
            <a:ext cx="666750" cy="20478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863" b="0">
                <a:solidFill>
                  <a:srgbClr val="B8C4D8"/>
                </a:solidFill>
                <a:latin typeface="Aptos"/>
                <a:ea typeface="Aptos"/>
                <a:cs typeface="Aptos"/>
              </a:defRPr>
            </a:pPr>
            <a:r>
              <a:rPr sz="863" b="0">
                <a:solidFill>
                  <a:srgbClr val="B8C4D8"/>
                </a:solidFill>
                <a:latin typeface="Aptos"/>
                <a:ea typeface="Aptos"/>
                <a:cs typeface="Aptos"/>
              </a:rPr>
              <a:t>16.27s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D7C7359D-397A-4E88-AF4E-8573E88D49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0" y="3057525"/>
            <a:ext cx="952500" cy="20478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863" b="0">
                <a:solidFill>
                  <a:srgbClr val="B8C4D8"/>
                </a:solidFill>
                <a:latin typeface="Aptos"/>
                <a:ea typeface="Aptos"/>
                <a:cs typeface="Aptos"/>
              </a:defRPr>
            </a:pPr>
            <a:r>
              <a:rPr sz="863" b="0">
                <a:solidFill>
                  <a:srgbClr val="B8C4D8"/>
                </a:solidFill>
                <a:latin typeface="Aptos"/>
                <a:ea typeface="Aptos"/>
                <a:cs typeface="Aptos"/>
              </a:rPr>
              <a:t>2/6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28D3BD31-0DE8-4964-9EF4-DB14ACABC7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414713"/>
            <a:ext cx="5810250" cy="45243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2139"/>
          </a:solidFill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A127C474-7BB2-4F71-9BA0-BC2CEA6090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529013"/>
            <a:ext cx="762000" cy="20478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863" b="0">
                <a:solidFill>
                  <a:srgbClr val="B8C4D8"/>
                </a:solidFill>
                <a:latin typeface="Aptos"/>
                <a:ea typeface="Aptos"/>
                <a:cs typeface="Aptos"/>
              </a:defRPr>
            </a:pPr>
            <a:r>
              <a:rPr sz="863" b="0">
                <a:solidFill>
                  <a:srgbClr val="B8C4D8"/>
                </a:solidFill>
                <a:latin typeface="Aptos"/>
                <a:ea typeface="Aptos"/>
                <a:cs typeface="Aptos"/>
              </a:rPr>
              <a:t>C / AT-TP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9D62823A-356B-4F22-B983-61B8C13CE0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3529013"/>
            <a:ext cx="1809750" cy="20478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863" b="0">
                <a:solidFill>
                  <a:srgbClr val="B8C4D8"/>
                </a:solidFill>
                <a:latin typeface="Aptos"/>
                <a:ea typeface="Aptos"/>
                <a:cs typeface="Aptos"/>
              </a:defRPr>
            </a:pPr>
            <a:r>
              <a:rPr sz="863" b="0">
                <a:solidFill>
                  <a:srgbClr val="B8C4D8"/>
                </a:solidFill>
                <a:latin typeface="Aptos"/>
                <a:ea typeface="Aptos"/>
                <a:cs typeface="Aptos"/>
              </a:rPr>
              <a:t>Optimized MCP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6B5ADF90-30A0-41EE-ADE6-D272587105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3529013"/>
            <a:ext cx="666750" cy="20478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863" b="0">
                <a:solidFill>
                  <a:srgbClr val="B8C4D8"/>
                </a:solidFill>
                <a:latin typeface="Aptos"/>
                <a:ea typeface="Aptos"/>
                <a:cs typeface="Aptos"/>
              </a:defRPr>
            </a:pPr>
            <a:r>
              <a:rPr sz="863" b="0">
                <a:solidFill>
                  <a:srgbClr val="B8C4D8"/>
                </a:solidFill>
                <a:latin typeface="Aptos"/>
                <a:ea typeface="Aptos"/>
                <a:cs typeface="Aptos"/>
              </a:rPr>
              <a:t>7.40s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C40908DD-D2DA-4C61-BE12-98426F185E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3529013"/>
            <a:ext cx="666750" cy="20478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863" b="0">
                <a:solidFill>
                  <a:srgbClr val="B8C4D8"/>
                </a:solidFill>
                <a:latin typeface="Aptos"/>
                <a:ea typeface="Aptos"/>
                <a:cs typeface="Aptos"/>
              </a:defRPr>
            </a:pPr>
            <a:r>
              <a:rPr sz="863" b="0">
                <a:solidFill>
                  <a:srgbClr val="B8C4D8"/>
                </a:solidFill>
                <a:latin typeface="Aptos"/>
                <a:ea typeface="Aptos"/>
                <a:cs typeface="Aptos"/>
              </a:rPr>
              <a:t>47.93s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1C4ADE67-27F2-4812-84B0-967FB3DFE9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0" y="3529013"/>
            <a:ext cx="952500" cy="20478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863" b="0">
                <a:solidFill>
                  <a:srgbClr val="B8C4D8"/>
                </a:solidFill>
                <a:latin typeface="Aptos"/>
                <a:ea typeface="Aptos"/>
                <a:cs typeface="Aptos"/>
              </a:defRPr>
            </a:pPr>
            <a:r>
              <a:rPr sz="863" b="0">
                <a:solidFill>
                  <a:srgbClr val="B8C4D8"/>
                </a:solidFill>
                <a:latin typeface="Aptos"/>
                <a:ea typeface="Aptos"/>
                <a:cs typeface="Aptos"/>
              </a:rPr>
              <a:t>0/6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6C178B63-7402-45A8-8B5B-13496C0A79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3700" y="2171700"/>
            <a:ext cx="152400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975">
                <a:solidFill>
                  <a:srgbClr val="B8C4D8"/>
                </a:solidFill>
                <a:latin typeface="Aptos"/>
                <a:ea typeface="Aptos"/>
                <a:cs typeface="Aptos"/>
              </a:defRPr>
            </a:pPr>
            <a:r>
              <a:rPr sz="975">
                <a:solidFill>
                  <a:srgbClr val="B8C4D8"/>
                </a:solidFill>
                <a:latin typeface="Aptos"/>
                <a:ea typeface="Aptos"/>
                <a:cs typeface="Aptos"/>
              </a:rPr>
              <a:t>A direct p50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77271D0B-5680-4589-A090-1B7D1F724B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2228850"/>
            <a:ext cx="15621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63653"/>
          </a:solidFill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0975D5D1-6F15-4236-BA2D-D1638E7BA7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2228850"/>
            <a:ext cx="135568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8BDF8"/>
          </a:solidFill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F1C07C5D-41A1-4295-BC2D-5AA91F896E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34600" y="2152650"/>
            <a:ext cx="112395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38BDF8"/>
                </a:solidFill>
                <a:latin typeface="Aptos Display"/>
                <a:ea typeface="Aptos Display"/>
                <a:cs typeface="Aptos Display"/>
              </a:defRPr>
            </a:pPr>
            <a:r>
              <a:rPr sz="1050" b="1">
                <a:solidFill>
                  <a:srgbClr val="38BDF8"/>
                </a:solidFill>
                <a:latin typeface="Aptos Display"/>
                <a:ea typeface="Aptos Display"/>
                <a:cs typeface="Aptos Display"/>
              </a:rPr>
              <a:t>12.15s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CD4B6271-66FB-4DCB-A988-2A66F16533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3700" y="2571750"/>
            <a:ext cx="152400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975">
                <a:solidFill>
                  <a:srgbClr val="B8C4D8"/>
                </a:solidFill>
                <a:latin typeface="Aptos"/>
                <a:ea typeface="Aptos"/>
                <a:cs typeface="Aptos"/>
              </a:defRPr>
            </a:pPr>
            <a:r>
              <a:rPr sz="975">
                <a:solidFill>
                  <a:srgbClr val="B8C4D8"/>
                </a:solidFill>
                <a:latin typeface="Aptos"/>
                <a:ea typeface="Aptos"/>
                <a:cs typeface="Aptos"/>
              </a:rPr>
              <a:t>B MCP p50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89003BFF-87E8-44DA-BB3E-0E31C895E0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2628900"/>
            <a:ext cx="15621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63653"/>
          </a:solidFill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1EBF7BC4-BD6C-44E0-8401-5CEDC54D3F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2628900"/>
            <a:ext cx="1460563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9E0B"/>
          </a:solidFill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32CC0128-D695-4283-B1B2-903788401C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34600" y="2552700"/>
            <a:ext cx="112395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F59E0B"/>
                </a:solidFill>
                <a:latin typeface="Aptos Display"/>
                <a:ea typeface="Aptos Display"/>
                <a:cs typeface="Aptos Display"/>
              </a:defRPr>
            </a:pPr>
            <a:r>
              <a:rPr sz="1050" b="1">
                <a:solidFill>
                  <a:srgbClr val="F59E0B"/>
                </a:solidFill>
                <a:latin typeface="Aptos Display"/>
                <a:ea typeface="Aptos Display"/>
                <a:cs typeface="Aptos Display"/>
              </a:rPr>
              <a:t>13.09s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C426A96A-1B82-4A8F-8E52-58601DA7AE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3700" y="2971800"/>
            <a:ext cx="152400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975">
                <a:solidFill>
                  <a:srgbClr val="B8C4D8"/>
                </a:solidFill>
                <a:latin typeface="Aptos"/>
                <a:ea typeface="Aptos"/>
                <a:cs typeface="Aptos"/>
              </a:defRPr>
            </a:pPr>
            <a:r>
              <a:rPr sz="975">
                <a:solidFill>
                  <a:srgbClr val="B8C4D8"/>
                </a:solidFill>
                <a:latin typeface="Aptos"/>
                <a:ea typeface="Aptos"/>
                <a:cs typeface="Aptos"/>
              </a:rPr>
              <a:t>C optimized p50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35C0FE28-CC6C-46C1-966B-9008A40212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3028950"/>
            <a:ext cx="15621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63653"/>
          </a:solidFill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2BADF3FB-73F3-4380-BAE9-CE69427814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3028950"/>
            <a:ext cx="825681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DD4BF"/>
          </a:solidFill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7C5828B7-4CD2-46AF-89DC-40EB16A0A8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34600" y="2952750"/>
            <a:ext cx="112395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2DD4BF"/>
                </a:solidFill>
                <a:latin typeface="Aptos Display"/>
                <a:ea typeface="Aptos Display"/>
                <a:cs typeface="Aptos Display"/>
              </a:defRPr>
            </a:pPr>
            <a:r>
              <a:rPr sz="1050" b="1">
                <a:solidFill>
                  <a:srgbClr val="2DD4BF"/>
                </a:solidFill>
                <a:latin typeface="Aptos Display"/>
                <a:ea typeface="Aptos Display"/>
                <a:cs typeface="Aptos Display"/>
              </a:rPr>
              <a:t>7.40s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89B9B444-D3C4-4F65-9EEE-C72F6FAF97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4552950"/>
            <a:ext cx="942975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233B"/>
          </a:solidFill>
        </p:spPr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EFD9649E-16EE-411D-A7F1-8DC3BC636C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4552950"/>
            <a:ext cx="94297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DD4BF"/>
          </a:solidFill>
        </p:spPr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0C37CED3-7350-4163-9160-3B101C1A45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43050" y="4743450"/>
            <a:ext cx="904875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F8FAFC"/>
                </a:solidFill>
                <a:latin typeface="Aptos Display"/>
                <a:ea typeface="Aptos Display"/>
                <a:cs typeface="Aptos Display"/>
              </a:defRPr>
            </a:pPr>
            <a:r>
              <a:rPr sz="1425" b="1">
                <a:solidFill>
                  <a:srgbClr val="F8FAFC"/>
                </a:solidFill>
                <a:latin typeface="Aptos Display"/>
                <a:ea typeface="Aptos Display"/>
                <a:cs typeface="Aptos Display"/>
              </a:rPr>
              <a:t>Interpretation</a:t>
            </a:r>
          </a:p>
        </p:txBody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A389903A-5198-4B3B-8F0A-80D97C405C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43050" y="5143500"/>
            <a:ext cx="904875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050">
                <a:solidFill>
                  <a:srgbClr val="B8C4D8"/>
                </a:solidFill>
                <a:latin typeface="Aptos"/>
                <a:ea typeface="Aptos"/>
                <a:cs typeface="Aptos"/>
              </a:defRPr>
            </a:pPr>
            <a:r>
              <a:rPr sz="1050">
                <a:solidFill>
                  <a:srgbClr val="B8C4D8"/>
                </a:solidFill>
                <a:latin typeface="Aptos"/>
                <a:ea typeface="Aptos"/>
                <a:cs typeface="Aptos"/>
              </a:rPr>
              <a:t>C improves p50 in the first capture but has a cold-start p95 tail and does not improve judged answer quality. Transport optimization is not quality optimization.</a:t>
            </a:r>
          </a:p>
        </p:txBody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79492107-F74F-43D7-B2F7-7AF5846552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38900"/>
            <a:ext cx="103632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750">
                <a:solidFill>
                  <a:srgbClr val="6F7F99"/>
                </a:solidFill>
                <a:latin typeface="Aptos"/>
                <a:ea typeface="Aptos"/>
                <a:cs typeface="Aptos"/>
              </a:defRPr>
            </a:pPr>
            <a:r>
              <a:rPr sz="750">
                <a:solidFill>
                  <a:srgbClr val="6F7F99"/>
                </a:solidFill>
                <a:latin typeface="Aptos"/>
                <a:ea typeface="Aptos"/>
                <a:cs typeface="Aptos"/>
              </a:rPr>
              <a:t>Sources: results/metrics/notebook02_latency_summary.csv; results/metrics/experiment_matrix_summary.csv.</a:t>
            </a:r>
          </a:p>
        </p:txBody>
      </p:sp>
    </p:spTree>
    <p:extLst>
      <p:ext uri="{BB962C8B-B14F-4D97-AF65-F5344CB8AC3E}">
        <p14:creationId xmlns:p14="http://schemas.microsoft.com/office/powerpoint/2010/main" val="181056601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0A102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AD27EB55-6B7A-4C49-AC12-22490753C4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1020"/>
          </a:solidFill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A1C0BAC-8D05-4F61-805E-A205FC98EE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DD4BF"/>
          </a:solidFill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E880F03-0FBE-432E-8971-CA6F806619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0" y="0"/>
            <a:ext cx="2095500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9E0B"/>
          </a:solidFill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BC0C0C9-721D-4E62-8147-46AE4E80BC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457200"/>
            <a:ext cx="3810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DD4BF"/>
          </a:solidFill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7C49A61-D69E-418C-980A-05BE65670C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34290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2DD4BF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2DD4BF"/>
                </a:solidFill>
                <a:latin typeface="Aptos"/>
                <a:ea typeface="Aptos"/>
                <a:cs typeface="Aptos"/>
              </a:rPr>
              <a:t>RESULT 2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000545D-C31A-48DA-ACFE-9381D81D7F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66750"/>
            <a:ext cx="8858250" cy="666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F8FAFC"/>
                </a:solidFill>
                <a:latin typeface="Aptos Display"/>
                <a:ea typeface="Aptos Display"/>
                <a:cs typeface="Aptos Display"/>
              </a:defRPr>
            </a:pPr>
            <a:r>
              <a:rPr sz="2100" b="1">
                <a:solidFill>
                  <a:srgbClr val="F8FAFC"/>
                </a:solidFill>
                <a:latin typeface="Aptos Display"/>
                <a:ea typeface="Aptos Display"/>
                <a:cs typeface="Aptos Display"/>
              </a:rPr>
              <a:t>Orchestration quality is not monotonic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F86A360-587D-49D6-8BDE-00800A6E83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43050"/>
            <a:ext cx="885825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125">
                <a:solidFill>
                  <a:srgbClr val="B8C4D8"/>
                </a:solidFill>
                <a:latin typeface="Aptos"/>
                <a:ea typeface="Aptos"/>
                <a:cs typeface="Aptos"/>
              </a:defRPr>
            </a:pPr>
            <a:r>
              <a:rPr sz="1125">
                <a:solidFill>
                  <a:srgbClr val="B8C4D8"/>
                </a:solidFill>
                <a:latin typeface="Aptos"/>
                <a:ea typeface="Aptos"/>
                <a:cs typeface="Aptos"/>
              </a:rPr>
              <a:t>Vanilla PE is weak; verification and Self-Ask change judged quality.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4CD46D3-2C52-4285-B131-15AD489134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457200"/>
            <a:ext cx="5334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6F7F99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6F7F99"/>
                </a:solidFill>
                <a:latin typeface="Aptos"/>
                <a:ea typeface="Aptos"/>
                <a:cs typeface="Aptos"/>
              </a:rPr>
              <a:t>08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ADB204A-C7E4-4653-BFCE-752B9E56EB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885950"/>
            <a:ext cx="65722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2E4A"/>
          </a:solidFill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6ABD649-FF40-466D-8FBD-12D3F1A347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000250"/>
            <a:ext cx="47625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2DD4BF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2DD4BF"/>
                </a:solidFill>
                <a:latin typeface="Aptos"/>
                <a:ea typeface="Aptos"/>
                <a:cs typeface="Aptos"/>
              </a:rPr>
              <a:t>Cell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1D8908D-7F3B-453E-BE71-48AC5F1A3B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2000250"/>
            <a:ext cx="228600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2DD4BF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2DD4BF"/>
                </a:solidFill>
                <a:latin typeface="Aptos"/>
                <a:ea typeface="Aptos"/>
                <a:cs typeface="Aptos"/>
              </a:rPr>
              <a:t>Strategy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9840385-2AF7-40CB-8D9A-29DE27A593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67150" y="2000250"/>
            <a:ext cx="76200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2DD4BF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2DD4BF"/>
                </a:solidFill>
                <a:latin typeface="Aptos"/>
                <a:ea typeface="Aptos"/>
                <a:cs typeface="Aptos"/>
              </a:rPr>
              <a:t>Success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F92288C-C83A-47C5-BA9F-C65EFDA2B4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9650" y="2000250"/>
            <a:ext cx="76200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2DD4BF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2DD4BF"/>
                </a:solidFill>
                <a:latin typeface="Aptos"/>
                <a:ea typeface="Aptos"/>
                <a:cs typeface="Aptos"/>
              </a:rPr>
              <a:t>Judge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E5BC879-B162-40B0-8608-E6F08CEC07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72150" y="2000250"/>
            <a:ext cx="76200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2DD4BF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2DD4BF"/>
                </a:solidFill>
                <a:latin typeface="Aptos"/>
                <a:ea typeface="Aptos"/>
                <a:cs typeface="Aptos"/>
              </a:rPr>
              <a:t>Pass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DF04D98-5B52-47BC-94A7-95DFF11730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324100"/>
            <a:ext cx="65722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2139"/>
          </a:solidFill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D532FC8-DAEF-4DA6-A813-CF769635AD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438400"/>
            <a:ext cx="47625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863" b="0">
                <a:solidFill>
                  <a:srgbClr val="B8C4D8"/>
                </a:solidFill>
                <a:latin typeface="Aptos"/>
                <a:ea typeface="Aptos"/>
                <a:cs typeface="Aptos"/>
              </a:defRPr>
            </a:pPr>
            <a:r>
              <a:rPr sz="863" b="0">
                <a:solidFill>
                  <a:srgbClr val="B8C4D8"/>
                </a:solidFill>
                <a:latin typeface="Aptos"/>
                <a:ea typeface="Aptos"/>
                <a:cs typeface="Aptos"/>
              </a:rPr>
              <a:t>B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BF4883B-1579-4784-A9EE-1A540821D5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2438400"/>
            <a:ext cx="228600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863" b="0">
                <a:solidFill>
                  <a:srgbClr val="B8C4D8"/>
                </a:solidFill>
                <a:latin typeface="Aptos"/>
                <a:ea typeface="Aptos"/>
                <a:cs typeface="Aptos"/>
              </a:defRPr>
            </a:pPr>
            <a:r>
              <a:rPr sz="863" b="0">
                <a:solidFill>
                  <a:srgbClr val="B8C4D8"/>
                </a:solidFill>
                <a:latin typeface="Aptos"/>
                <a:ea typeface="Aptos"/>
                <a:cs typeface="Aptos"/>
              </a:rPr>
              <a:t>Agent-as-Tool MCP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96E14E0-FD0E-464B-8673-09090DF418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67150" y="2438400"/>
            <a:ext cx="76200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863" b="0">
                <a:solidFill>
                  <a:srgbClr val="B8C4D8"/>
                </a:solidFill>
                <a:latin typeface="Aptos"/>
                <a:ea typeface="Aptos"/>
                <a:cs typeface="Aptos"/>
              </a:defRPr>
            </a:pPr>
            <a:r>
              <a:rPr sz="863" b="0">
                <a:solidFill>
                  <a:srgbClr val="B8C4D8"/>
                </a:solidFill>
                <a:latin typeface="Aptos"/>
                <a:ea typeface="Aptos"/>
                <a:cs typeface="Aptos"/>
              </a:rPr>
              <a:t>1.0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26FC3EC-2D49-4DED-998C-0E63C1DAA6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9650" y="2438400"/>
            <a:ext cx="76200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863" b="0">
                <a:solidFill>
                  <a:srgbClr val="B8C4D8"/>
                </a:solidFill>
                <a:latin typeface="Aptos"/>
                <a:ea typeface="Aptos"/>
                <a:cs typeface="Aptos"/>
              </a:defRPr>
            </a:pPr>
            <a:r>
              <a:rPr sz="863" b="0">
                <a:solidFill>
                  <a:srgbClr val="B8C4D8"/>
                </a:solidFill>
                <a:latin typeface="Aptos"/>
                <a:ea typeface="Aptos"/>
                <a:cs typeface="Aptos"/>
              </a:rPr>
              <a:t>0.278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F2D21E9A-A84D-4A00-B022-D6091B358A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72150" y="2438400"/>
            <a:ext cx="76200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863" b="0">
                <a:solidFill>
                  <a:srgbClr val="B8C4D8"/>
                </a:solidFill>
                <a:latin typeface="Aptos"/>
                <a:ea typeface="Aptos"/>
                <a:cs typeface="Aptos"/>
              </a:defRPr>
            </a:pPr>
            <a:r>
              <a:rPr sz="863" b="0">
                <a:solidFill>
                  <a:srgbClr val="B8C4D8"/>
                </a:solidFill>
                <a:latin typeface="Aptos"/>
                <a:ea typeface="Aptos"/>
                <a:cs typeface="Aptos"/>
              </a:rPr>
              <a:t>2/6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B9849AC0-5420-4FB8-96F0-988D6606B2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762250"/>
            <a:ext cx="65722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C31"/>
          </a:solidFill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6AF6A7B6-D1EC-4466-A67C-2F049A1832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876550"/>
            <a:ext cx="47625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863" b="0">
                <a:solidFill>
                  <a:srgbClr val="B8C4D8"/>
                </a:solidFill>
                <a:latin typeface="Aptos"/>
                <a:ea typeface="Aptos"/>
                <a:cs typeface="Aptos"/>
              </a:defRPr>
            </a:pPr>
            <a:r>
              <a:rPr sz="863" b="0">
                <a:solidFill>
                  <a:srgbClr val="B8C4D8"/>
                </a:solidFill>
                <a:latin typeface="Aptos"/>
                <a:ea typeface="Aptos"/>
                <a:cs typeface="Aptos"/>
              </a:rPr>
              <a:t>Y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E8BA0615-51F4-487E-8911-D2087D819E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2876550"/>
            <a:ext cx="228600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863" b="0">
                <a:solidFill>
                  <a:srgbClr val="B8C4D8"/>
                </a:solidFill>
                <a:latin typeface="Aptos"/>
                <a:ea typeface="Aptos"/>
                <a:cs typeface="Aptos"/>
              </a:defRPr>
            </a:pPr>
            <a:r>
              <a:rPr sz="863" b="0">
                <a:solidFill>
                  <a:srgbClr val="B8C4D8"/>
                </a:solidFill>
                <a:latin typeface="Aptos"/>
                <a:ea typeface="Aptos"/>
                <a:cs typeface="Aptos"/>
              </a:rPr>
              <a:t>Plan-Execute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18E30051-D1E4-4331-880E-CC6DF661FB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67150" y="2876550"/>
            <a:ext cx="76200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863" b="0">
                <a:solidFill>
                  <a:srgbClr val="B8C4D8"/>
                </a:solidFill>
                <a:latin typeface="Aptos"/>
                <a:ea typeface="Aptos"/>
                <a:cs typeface="Aptos"/>
              </a:defRPr>
            </a:pPr>
            <a:r>
              <a:rPr sz="863" b="0">
                <a:solidFill>
                  <a:srgbClr val="B8C4D8"/>
                </a:solidFill>
                <a:latin typeface="Aptos"/>
                <a:ea typeface="Aptos"/>
                <a:cs typeface="Aptos"/>
              </a:rPr>
              <a:t>0.5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63F51CDC-A226-44FA-9BE0-5841C936E9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9650" y="2876550"/>
            <a:ext cx="76200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863" b="0">
                <a:solidFill>
                  <a:srgbClr val="B8C4D8"/>
                </a:solidFill>
                <a:latin typeface="Aptos"/>
                <a:ea typeface="Aptos"/>
                <a:cs typeface="Aptos"/>
              </a:defRPr>
            </a:pPr>
            <a:r>
              <a:rPr sz="863" b="0">
                <a:solidFill>
                  <a:srgbClr val="B8C4D8"/>
                </a:solidFill>
                <a:latin typeface="Aptos"/>
                <a:ea typeface="Aptos"/>
                <a:cs typeface="Aptos"/>
              </a:rPr>
              <a:t>0.111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FFAD1BB6-414D-44DD-A3C7-C30F425CBB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72150" y="2876550"/>
            <a:ext cx="76200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863" b="0">
                <a:solidFill>
                  <a:srgbClr val="B8C4D8"/>
                </a:solidFill>
                <a:latin typeface="Aptos"/>
                <a:ea typeface="Aptos"/>
                <a:cs typeface="Aptos"/>
              </a:defRPr>
            </a:pPr>
            <a:r>
              <a:rPr sz="863" b="0">
                <a:solidFill>
                  <a:srgbClr val="B8C4D8"/>
                </a:solidFill>
                <a:latin typeface="Aptos"/>
                <a:ea typeface="Aptos"/>
                <a:cs typeface="Aptos"/>
              </a:rPr>
              <a:t>0/6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972ECCF9-3D4D-4AB3-9FD1-CC539DA5F5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3200400"/>
            <a:ext cx="65722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2139"/>
          </a:solidFill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F8E69B7E-45E5-4D84-B83A-596A84FE03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314700"/>
            <a:ext cx="47625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863" b="0">
                <a:solidFill>
                  <a:srgbClr val="B8C4D8"/>
                </a:solidFill>
                <a:latin typeface="Aptos"/>
                <a:ea typeface="Aptos"/>
                <a:cs typeface="Aptos"/>
              </a:defRPr>
            </a:pPr>
            <a:r>
              <a:rPr sz="863" b="0">
                <a:solidFill>
                  <a:srgbClr val="B8C4D8"/>
                </a:solidFill>
                <a:latin typeface="Aptos"/>
                <a:ea typeface="Aptos"/>
                <a:cs typeface="Aptos"/>
              </a:rPr>
              <a:t>Z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6870C30E-73E2-4336-B9BC-AECD30B535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3314700"/>
            <a:ext cx="228600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863" b="0">
                <a:solidFill>
                  <a:srgbClr val="B8C4D8"/>
                </a:solidFill>
                <a:latin typeface="Aptos"/>
                <a:ea typeface="Aptos"/>
                <a:cs typeface="Aptos"/>
              </a:defRPr>
            </a:pPr>
            <a:r>
              <a:rPr sz="863" b="0">
                <a:solidFill>
                  <a:srgbClr val="B8C4D8"/>
                </a:solidFill>
                <a:latin typeface="Aptos"/>
                <a:ea typeface="Aptos"/>
                <a:cs typeface="Aptos"/>
              </a:rPr>
              <a:t>Verified PE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A36F475D-6783-43E5-A981-14A1563D68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67150" y="3314700"/>
            <a:ext cx="76200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863" b="0">
                <a:solidFill>
                  <a:srgbClr val="B8C4D8"/>
                </a:solidFill>
                <a:latin typeface="Aptos"/>
                <a:ea typeface="Aptos"/>
                <a:cs typeface="Aptos"/>
              </a:defRPr>
            </a:pPr>
            <a:r>
              <a:rPr sz="863" b="0">
                <a:solidFill>
                  <a:srgbClr val="B8C4D8"/>
                </a:solidFill>
                <a:latin typeface="Aptos"/>
                <a:ea typeface="Aptos"/>
                <a:cs typeface="Aptos"/>
              </a:rPr>
              <a:t>1.0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CF1019B3-84E5-4CBF-8BE4-2EDBE21C5A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9650" y="3314700"/>
            <a:ext cx="76200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863" b="0">
                <a:solidFill>
                  <a:srgbClr val="B8C4D8"/>
                </a:solidFill>
                <a:latin typeface="Aptos"/>
                <a:ea typeface="Aptos"/>
                <a:cs typeface="Aptos"/>
              </a:defRPr>
            </a:pPr>
            <a:r>
              <a:rPr sz="863" b="0">
                <a:solidFill>
                  <a:srgbClr val="B8C4D8"/>
                </a:solidFill>
                <a:latin typeface="Aptos"/>
                <a:ea typeface="Aptos"/>
                <a:cs typeface="Aptos"/>
              </a:rPr>
              <a:t>0.639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DB28BDE9-36E3-44FB-8C60-1EDE50207E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72150" y="3314700"/>
            <a:ext cx="76200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863" b="0">
                <a:solidFill>
                  <a:srgbClr val="B8C4D8"/>
                </a:solidFill>
                <a:latin typeface="Aptos"/>
                <a:ea typeface="Aptos"/>
                <a:cs typeface="Aptos"/>
              </a:defRPr>
            </a:pPr>
            <a:r>
              <a:rPr sz="863" b="0">
                <a:solidFill>
                  <a:srgbClr val="B8C4D8"/>
                </a:solidFill>
                <a:latin typeface="Aptos"/>
                <a:ea typeface="Aptos"/>
                <a:cs typeface="Aptos"/>
              </a:rPr>
              <a:t>4/6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134F4B36-B718-4299-978E-B90BAD21F2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3638550"/>
            <a:ext cx="65722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C31"/>
          </a:solidFill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7E84C3B3-54F6-45BB-8BED-D0B70C13B5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752850"/>
            <a:ext cx="47625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863" b="0">
                <a:solidFill>
                  <a:srgbClr val="B8C4D8"/>
                </a:solidFill>
                <a:latin typeface="Aptos"/>
                <a:ea typeface="Aptos"/>
                <a:cs typeface="Aptos"/>
              </a:defRPr>
            </a:pPr>
            <a:r>
              <a:rPr sz="863" b="0">
                <a:solidFill>
                  <a:srgbClr val="B8C4D8"/>
                </a:solidFill>
                <a:latin typeface="Aptos"/>
                <a:ea typeface="Aptos"/>
                <a:cs typeface="Aptos"/>
              </a:rPr>
              <a:t>YS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FF9CACF6-F283-4C2C-81C5-DE617D1E6B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3752850"/>
            <a:ext cx="228600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863" b="0">
                <a:solidFill>
                  <a:srgbClr val="B8C4D8"/>
                </a:solidFill>
                <a:latin typeface="Aptos"/>
                <a:ea typeface="Aptos"/>
                <a:cs typeface="Aptos"/>
              </a:defRPr>
            </a:pPr>
            <a:r>
              <a:rPr sz="863" b="0">
                <a:solidFill>
                  <a:srgbClr val="B8C4D8"/>
                </a:solidFill>
                <a:latin typeface="Aptos"/>
                <a:ea typeface="Aptos"/>
                <a:cs typeface="Aptos"/>
              </a:rPr>
              <a:t>PE + Self-Ask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49574658-AC85-489A-A49B-F9DBF64971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67150" y="3752850"/>
            <a:ext cx="76200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863" b="0">
                <a:solidFill>
                  <a:srgbClr val="B8C4D8"/>
                </a:solidFill>
                <a:latin typeface="Aptos"/>
                <a:ea typeface="Aptos"/>
                <a:cs typeface="Aptos"/>
              </a:defRPr>
            </a:pPr>
            <a:r>
              <a:rPr sz="863" b="0">
                <a:solidFill>
                  <a:srgbClr val="B8C4D8"/>
                </a:solidFill>
                <a:latin typeface="Aptos"/>
                <a:ea typeface="Aptos"/>
                <a:cs typeface="Aptos"/>
              </a:rPr>
              <a:t>1.0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6630C6B2-C5F8-4A74-88CC-09665FC2F3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9650" y="3752850"/>
            <a:ext cx="76200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863" b="0">
                <a:solidFill>
                  <a:srgbClr val="B8C4D8"/>
                </a:solidFill>
                <a:latin typeface="Aptos"/>
                <a:ea typeface="Aptos"/>
                <a:cs typeface="Aptos"/>
              </a:defRPr>
            </a:pPr>
            <a:r>
              <a:rPr sz="863" b="0">
                <a:solidFill>
                  <a:srgbClr val="B8C4D8"/>
                </a:solidFill>
                <a:latin typeface="Aptos"/>
                <a:ea typeface="Aptos"/>
                <a:cs typeface="Aptos"/>
              </a:rPr>
              <a:t>0.444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7F380DCB-E6B4-42D8-AAD3-22A1A69F40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72150" y="3752850"/>
            <a:ext cx="76200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863" b="0">
                <a:solidFill>
                  <a:srgbClr val="B8C4D8"/>
                </a:solidFill>
                <a:latin typeface="Aptos"/>
                <a:ea typeface="Aptos"/>
                <a:cs typeface="Aptos"/>
              </a:defRPr>
            </a:pPr>
            <a:r>
              <a:rPr sz="863" b="0">
                <a:solidFill>
                  <a:srgbClr val="B8C4D8"/>
                </a:solidFill>
                <a:latin typeface="Aptos"/>
                <a:ea typeface="Aptos"/>
                <a:cs typeface="Aptos"/>
              </a:rPr>
              <a:t>3/6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F1B5AB19-B746-45F7-B30B-821A9CB689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076700"/>
            <a:ext cx="65722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2139"/>
          </a:solidFill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252B1ABD-77CA-49B1-B86B-259B35689B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191000"/>
            <a:ext cx="47625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863" b="0">
                <a:solidFill>
                  <a:srgbClr val="B8C4D8"/>
                </a:solidFill>
                <a:latin typeface="Aptos"/>
                <a:ea typeface="Aptos"/>
                <a:cs typeface="Aptos"/>
              </a:defRPr>
            </a:pPr>
            <a:r>
              <a:rPr sz="863" b="0">
                <a:solidFill>
                  <a:srgbClr val="B8C4D8"/>
                </a:solidFill>
                <a:latin typeface="Aptos"/>
                <a:ea typeface="Aptos"/>
                <a:cs typeface="Aptos"/>
              </a:rPr>
              <a:t>ZS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26C46794-D721-4BAD-B9EB-26628567A4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4191000"/>
            <a:ext cx="228600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863" b="0">
                <a:solidFill>
                  <a:srgbClr val="B8C4D8"/>
                </a:solidFill>
                <a:latin typeface="Aptos"/>
                <a:ea typeface="Aptos"/>
                <a:cs typeface="Aptos"/>
              </a:defRPr>
            </a:pPr>
            <a:r>
              <a:rPr sz="863" b="0">
                <a:solidFill>
                  <a:srgbClr val="B8C4D8"/>
                </a:solidFill>
                <a:latin typeface="Aptos"/>
                <a:ea typeface="Aptos"/>
                <a:cs typeface="Aptos"/>
              </a:rPr>
              <a:t>Verified PE + Self-Ask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DF0CB25E-F816-462E-BDB6-D4A1E37ECA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67150" y="4191000"/>
            <a:ext cx="76200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863" b="0">
                <a:solidFill>
                  <a:srgbClr val="B8C4D8"/>
                </a:solidFill>
                <a:latin typeface="Aptos"/>
                <a:ea typeface="Aptos"/>
                <a:cs typeface="Aptos"/>
              </a:defRPr>
            </a:pPr>
            <a:r>
              <a:rPr sz="863" b="0">
                <a:solidFill>
                  <a:srgbClr val="B8C4D8"/>
                </a:solidFill>
                <a:latin typeface="Aptos"/>
                <a:ea typeface="Aptos"/>
                <a:cs typeface="Aptos"/>
              </a:rPr>
              <a:t>1.0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2CE20882-8325-4562-99A1-4809FC1D3D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9650" y="4191000"/>
            <a:ext cx="76200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863" b="0">
                <a:solidFill>
                  <a:srgbClr val="B8C4D8"/>
                </a:solidFill>
                <a:latin typeface="Aptos"/>
                <a:ea typeface="Aptos"/>
                <a:cs typeface="Aptos"/>
              </a:defRPr>
            </a:pPr>
            <a:r>
              <a:rPr sz="863" b="0">
                <a:solidFill>
                  <a:srgbClr val="B8C4D8"/>
                </a:solidFill>
                <a:latin typeface="Aptos"/>
                <a:ea typeface="Aptos"/>
                <a:cs typeface="Aptos"/>
              </a:rPr>
              <a:t>0.833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B4B2728D-FC61-4A14-9365-251ADEA932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72150" y="4191000"/>
            <a:ext cx="76200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863" b="0">
                <a:solidFill>
                  <a:srgbClr val="B8C4D8"/>
                </a:solidFill>
                <a:latin typeface="Aptos"/>
                <a:ea typeface="Aptos"/>
                <a:cs typeface="Aptos"/>
              </a:defRPr>
            </a:pPr>
            <a:r>
              <a:rPr sz="863" b="0">
                <a:solidFill>
                  <a:srgbClr val="B8C4D8"/>
                </a:solidFill>
                <a:latin typeface="Aptos"/>
                <a:ea typeface="Aptos"/>
                <a:cs typeface="Aptos"/>
              </a:rPr>
              <a:t>5/6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92EAB07A-A934-4197-842E-4AE2A45A1A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2114550"/>
            <a:ext cx="152400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975">
                <a:solidFill>
                  <a:srgbClr val="B8C4D8"/>
                </a:solidFill>
                <a:latin typeface="Aptos"/>
                <a:ea typeface="Aptos"/>
                <a:cs typeface="Aptos"/>
              </a:defRPr>
            </a:pPr>
            <a:r>
              <a:rPr sz="975">
                <a:solidFill>
                  <a:srgbClr val="B8C4D8"/>
                </a:solidFill>
                <a:latin typeface="Aptos"/>
                <a:ea typeface="Aptos"/>
                <a:cs typeface="Aptos"/>
              </a:rPr>
              <a:t>B / AT-M</a:t>
            </a:r>
          </a:p>
        </p:txBody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6DAF1438-7AA7-442A-8E4C-33FFE8F9D0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2171700"/>
            <a:ext cx="11430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63653"/>
          </a:solidFill>
        </p:spPr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736A8373-6764-46FE-97C1-4E4FB7DA7C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2171700"/>
            <a:ext cx="35306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8BDF8"/>
          </a:solidFill>
        </p:spPr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D21E6372-3389-4AFE-8BA6-57F484DEAB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96550" y="2095500"/>
            <a:ext cx="112395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38BDF8"/>
                </a:solidFill>
                <a:latin typeface="Aptos Display"/>
                <a:ea typeface="Aptos Display"/>
                <a:cs typeface="Aptos Display"/>
              </a:defRPr>
            </a:pPr>
            <a:r>
              <a:rPr sz="1050" b="1">
                <a:solidFill>
                  <a:srgbClr val="38BDF8"/>
                </a:solidFill>
                <a:latin typeface="Aptos Display"/>
                <a:ea typeface="Aptos Display"/>
                <a:cs typeface="Aptos Display"/>
              </a:rPr>
              <a:t>0.278</a:t>
            </a:r>
          </a:p>
        </p:txBody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BDB374F0-1D57-4BBA-AA33-0C52846088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2533650"/>
            <a:ext cx="152400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975">
                <a:solidFill>
                  <a:srgbClr val="B8C4D8"/>
                </a:solidFill>
                <a:latin typeface="Aptos"/>
                <a:ea typeface="Aptos"/>
                <a:cs typeface="Aptos"/>
              </a:defRPr>
            </a:pPr>
            <a:r>
              <a:rPr sz="975">
                <a:solidFill>
                  <a:srgbClr val="B8C4D8"/>
                </a:solidFill>
                <a:latin typeface="Aptos"/>
                <a:ea typeface="Aptos"/>
                <a:cs typeface="Aptos"/>
              </a:rPr>
              <a:t>Y / PE-M</a:t>
            </a:r>
          </a:p>
        </p:txBody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CD24A438-CA86-439F-89F8-4C7C8E36A3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2590800"/>
            <a:ext cx="11430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63653"/>
          </a:solidFill>
        </p:spPr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ED9814AD-8E73-4944-83AD-087082F408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2590800"/>
            <a:ext cx="14097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7185"/>
          </a:solidFill>
        </p:spPr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30722C0D-454A-408F-A028-93C7159AEE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96550" y="2514600"/>
            <a:ext cx="112395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FB7185"/>
                </a:solidFill>
                <a:latin typeface="Aptos Display"/>
                <a:ea typeface="Aptos Display"/>
                <a:cs typeface="Aptos Display"/>
              </a:defRPr>
            </a:pPr>
            <a:r>
              <a:rPr sz="1050" b="1">
                <a:solidFill>
                  <a:srgbClr val="FB7185"/>
                </a:solidFill>
                <a:latin typeface="Aptos Display"/>
                <a:ea typeface="Aptos Display"/>
                <a:cs typeface="Aptos Display"/>
              </a:rPr>
              <a:t>0.111</a:t>
            </a:r>
          </a:p>
        </p:txBody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B82EFEE8-007D-49F0-AB82-5965355A2D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2952750"/>
            <a:ext cx="152400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975">
                <a:solidFill>
                  <a:srgbClr val="B8C4D8"/>
                </a:solidFill>
                <a:latin typeface="Aptos"/>
                <a:ea typeface="Aptos"/>
                <a:cs typeface="Aptos"/>
              </a:defRPr>
            </a:pPr>
            <a:r>
              <a:rPr sz="975">
                <a:solidFill>
                  <a:srgbClr val="B8C4D8"/>
                </a:solidFill>
                <a:latin typeface="Aptos"/>
                <a:ea typeface="Aptos"/>
                <a:cs typeface="Aptos"/>
              </a:rPr>
              <a:t>Z / V-M</a:t>
            </a:r>
          </a:p>
        </p:txBody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AA220AE8-46A9-442A-8B47-0324DD5AB4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3009900"/>
            <a:ext cx="11430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63653"/>
          </a:solidFill>
        </p:spPr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443929ED-E987-4E86-A72C-2944F3A9BE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3009900"/>
            <a:ext cx="81153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9E0B"/>
          </a:solidFill>
        </p:spPr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15D2CD1F-9F1C-47A4-A9D9-B4AE653173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96550" y="2933700"/>
            <a:ext cx="112395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F59E0B"/>
                </a:solidFill>
                <a:latin typeface="Aptos Display"/>
                <a:ea typeface="Aptos Display"/>
                <a:cs typeface="Aptos Display"/>
              </a:defRPr>
            </a:pPr>
            <a:r>
              <a:rPr sz="1050" b="1">
                <a:solidFill>
                  <a:srgbClr val="F59E0B"/>
                </a:solidFill>
                <a:latin typeface="Aptos Display"/>
                <a:ea typeface="Aptos Display"/>
                <a:cs typeface="Aptos Display"/>
              </a:rPr>
              <a:t>0.639</a:t>
            </a:r>
          </a:p>
        </p:txBody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93FCD427-EA6C-4A35-BA18-9438A02B2D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3371850"/>
            <a:ext cx="152400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975">
                <a:solidFill>
                  <a:srgbClr val="B8C4D8"/>
                </a:solidFill>
                <a:latin typeface="Aptos"/>
                <a:ea typeface="Aptos"/>
                <a:cs typeface="Aptos"/>
              </a:defRPr>
            </a:pPr>
            <a:r>
              <a:rPr sz="975">
                <a:solidFill>
                  <a:srgbClr val="B8C4D8"/>
                </a:solidFill>
                <a:latin typeface="Aptos"/>
                <a:ea typeface="Aptos"/>
                <a:cs typeface="Aptos"/>
              </a:rPr>
              <a:t>ZS / V-S-M</a:t>
            </a:r>
          </a:p>
        </p:txBody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0F1283BE-5136-499B-ADE6-433DB40A32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3429000"/>
            <a:ext cx="11430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63653"/>
          </a:solidFill>
        </p:spPr>
      </p:sp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9AFD0393-0E5A-4E42-821D-FE1E13CCF8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3429000"/>
            <a:ext cx="105791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DD4BF"/>
          </a:solidFill>
        </p:spPr>
      </p:sp>
      <p:sp>
        <p:nvSpPr>
          <p:cNvPr id="60" name="">
            <a:extLst xmlns:a="http://schemas.openxmlformats.org/drawingml/2006/main">
              <a:ext uri="{FF2B5EF4-FFF2-40B4-BE49-F238E27FC236}">
                <a16:creationId xmlns:a16="http://schemas.microsoft.com/office/drawing/2014/main" id="{5CCEF881-E167-4609-B487-FA02C0A31F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96550" y="3352800"/>
            <a:ext cx="112395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2DD4BF"/>
                </a:solidFill>
                <a:latin typeface="Aptos Display"/>
                <a:ea typeface="Aptos Display"/>
                <a:cs typeface="Aptos Display"/>
              </a:defRPr>
            </a:pPr>
            <a:r>
              <a:rPr sz="1050" b="1">
                <a:solidFill>
                  <a:srgbClr val="2DD4BF"/>
                </a:solidFill>
                <a:latin typeface="Aptos Display"/>
                <a:ea typeface="Aptos Display"/>
                <a:cs typeface="Aptos Display"/>
              </a:rPr>
              <a:t>0.833</a:t>
            </a:r>
          </a:p>
        </p:txBody>
      </p:sp>
      <p:sp>
        <p:nvSpPr>
          <p:cNvPr id="61" name="">
            <a:extLst xmlns:a="http://schemas.openxmlformats.org/drawingml/2006/main">
              <a:ext uri="{FF2B5EF4-FFF2-40B4-BE49-F238E27FC236}">
                <a16:creationId xmlns:a16="http://schemas.microsoft.com/office/drawing/2014/main" id="{1409298E-CCCE-4A47-AA51-3342A64D6B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43100" y="5000625"/>
            <a:ext cx="819150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233B"/>
          </a:solidFill>
        </p:spPr>
      </p:sp>
      <p:sp>
        <p:nvSpPr>
          <p:cNvPr id="62" name="">
            <a:extLst xmlns:a="http://schemas.openxmlformats.org/drawingml/2006/main">
              <a:ext uri="{FF2B5EF4-FFF2-40B4-BE49-F238E27FC236}">
                <a16:creationId xmlns:a16="http://schemas.microsoft.com/office/drawing/2014/main" id="{8A707392-C69C-4076-A6B0-3BE5ADCB6C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43100" y="5000625"/>
            <a:ext cx="81915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9E0B"/>
          </a:solidFill>
        </p:spPr>
      </p:sp>
      <p:sp>
        <p:nvSpPr>
          <p:cNvPr id="63" name="">
            <a:extLst xmlns:a="http://schemas.openxmlformats.org/drawingml/2006/main">
              <a:ext uri="{FF2B5EF4-FFF2-40B4-BE49-F238E27FC236}">
                <a16:creationId xmlns:a16="http://schemas.microsoft.com/office/drawing/2014/main" id="{B5F14EC4-7413-4160-8774-D9C29D3248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33600" y="5191125"/>
            <a:ext cx="781050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F8FAFC"/>
                </a:solidFill>
                <a:latin typeface="Aptos Display"/>
                <a:ea typeface="Aptos Display"/>
                <a:cs typeface="Aptos Display"/>
              </a:defRPr>
            </a:pPr>
            <a:r>
              <a:rPr sz="1425" b="1">
                <a:solidFill>
                  <a:srgbClr val="F8FAFC"/>
                </a:solidFill>
                <a:latin typeface="Aptos Display"/>
                <a:ea typeface="Aptos Display"/>
                <a:cs typeface="Aptos Display"/>
              </a:rPr>
              <a:t>Careful claim</a:t>
            </a:r>
          </a:p>
        </p:txBody>
      </p:sp>
      <p:sp>
        <p:nvSpPr>
          <p:cNvPr id="64" name="">
            <a:extLst xmlns:a="http://schemas.openxmlformats.org/drawingml/2006/main">
              <a:ext uri="{FF2B5EF4-FFF2-40B4-BE49-F238E27FC236}">
                <a16:creationId xmlns:a16="http://schemas.microsoft.com/office/drawing/2014/main" id="{1B0FE3AD-2E72-4333-8FF1-240FDE2991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33600" y="5591175"/>
            <a:ext cx="78105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050">
                <a:solidFill>
                  <a:srgbClr val="B8C4D8"/>
                </a:solidFill>
                <a:latin typeface="Aptos"/>
                <a:ea typeface="Aptos"/>
                <a:cs typeface="Aptos"/>
              </a:defRPr>
            </a:pPr>
            <a:r>
              <a:rPr sz="1050">
                <a:solidFill>
                  <a:srgbClr val="B8C4D8"/>
                </a:solidFill>
                <a:latin typeface="Aptos"/>
                <a:ea typeface="Aptos"/>
                <a:cs typeface="Aptos"/>
              </a:rPr>
              <a:t>Verified PE + Self-Ask is the strongest current follow-on row, but it should not be described as the vanilla PE baseline.</a:t>
            </a:r>
          </a:p>
        </p:txBody>
      </p:sp>
      <p:sp>
        <p:nvSpPr>
          <p:cNvPr id="65" name="">
            <a:extLst xmlns:a="http://schemas.openxmlformats.org/drawingml/2006/main">
              <a:ext uri="{FF2B5EF4-FFF2-40B4-BE49-F238E27FC236}">
                <a16:creationId xmlns:a16="http://schemas.microsoft.com/office/drawing/2014/main" id="{A363B221-E185-4004-A8C7-663221EC16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38900"/>
            <a:ext cx="103632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750">
                <a:solidFill>
                  <a:srgbClr val="6F7F99"/>
                </a:solidFill>
                <a:latin typeface="Aptos"/>
                <a:ea typeface="Aptos"/>
                <a:cs typeface="Aptos"/>
              </a:defRPr>
            </a:pPr>
            <a:r>
              <a:rPr sz="750">
                <a:solidFill>
                  <a:srgbClr val="6F7F99"/>
                </a:solidFill>
                <a:latin typeface="Aptos"/>
                <a:ea typeface="Aptos"/>
                <a:cs typeface="Aptos"/>
              </a:rPr>
              <a:t>Sources: notebook03_orchestration_comparison.csv; notebook03_pe_family_follow_on.csv.</a:t>
            </a:r>
          </a:p>
        </p:txBody>
      </p:sp>
    </p:spTree>
    <p:extLst>
      <p:ext uri="{BB962C8B-B14F-4D97-AF65-F5344CB8AC3E}">
        <p14:creationId xmlns:p14="http://schemas.microsoft.com/office/powerpoint/2010/main" val="922241614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0A102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FFE3EB28-D0D3-4AC2-8C78-2009E4E5A1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1020"/>
          </a:solidFill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FFE2164-4534-4F88-A71A-CAFB16222C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DD4BF"/>
          </a:solidFill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C841F7D-0F54-4A10-B0D4-0D0BFEC73C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0" y="0"/>
            <a:ext cx="2095500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9E0B"/>
          </a:solidFill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AB550DA-B6E1-4470-8EFA-8E6DFB9338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457200"/>
            <a:ext cx="3810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DD4BF"/>
          </a:solidFill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FAB5448-66E7-4479-9F4C-7EAD5163F2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34290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2DD4BF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2DD4BF"/>
                </a:solidFill>
                <a:latin typeface="Aptos"/>
                <a:ea typeface="Aptos"/>
                <a:cs typeface="Aptos"/>
              </a:rPr>
              <a:t>FAILURE TAXONOMY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071F7AC-AF5D-4D41-ACFC-8A847BD17A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66750"/>
            <a:ext cx="8858250" cy="666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F8FAFC"/>
                </a:solidFill>
                <a:latin typeface="Aptos Display"/>
                <a:ea typeface="Aptos Display"/>
                <a:cs typeface="Aptos Display"/>
              </a:defRPr>
            </a:pPr>
            <a:r>
              <a:rPr sz="2100" b="1">
                <a:solidFill>
                  <a:srgbClr val="F8FAFC"/>
                </a:solidFill>
                <a:latin typeface="Aptos Display"/>
                <a:ea typeface="Aptos Display"/>
                <a:cs typeface="Aptos Display"/>
              </a:rPr>
              <a:t>Most failures are evidence-verification failures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616F540-A9DB-4743-AAF5-00D7C2D659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43050"/>
            <a:ext cx="885825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125">
                <a:solidFill>
                  <a:srgbClr val="B8C4D8"/>
                </a:solidFill>
                <a:latin typeface="Aptos"/>
                <a:ea typeface="Aptos"/>
                <a:cs typeface="Aptos"/>
              </a:defRPr>
            </a:pPr>
            <a:r>
              <a:rPr sz="1125">
                <a:solidFill>
                  <a:srgbClr val="B8C4D8"/>
                </a:solidFill>
                <a:latin typeface="Aptos"/>
                <a:ea typeface="Aptos"/>
                <a:cs typeface="Aptos"/>
              </a:rPr>
              <a:t>This is the strongest differentiator: failures become benchmark evidence.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079548E-142E-4DF8-B402-F82F9D159D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457200"/>
            <a:ext cx="5334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6F7F99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6F7F99"/>
                </a:solidFill>
                <a:latin typeface="Aptos"/>
                <a:ea typeface="Aptos"/>
                <a:cs typeface="Aptos"/>
              </a:rPr>
              <a:t>09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12A50F2-7CEE-44FF-B91B-15286338DD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2324100"/>
            <a:ext cx="247650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975">
                <a:solidFill>
                  <a:srgbClr val="B8C4D8"/>
                </a:solidFill>
                <a:latin typeface="Aptos"/>
                <a:ea typeface="Aptos"/>
                <a:cs typeface="Aptos"/>
              </a:defRPr>
            </a:pPr>
            <a:r>
              <a:rPr sz="975">
                <a:solidFill>
                  <a:srgbClr val="B8C4D8"/>
                </a:solidFill>
                <a:latin typeface="Aptos"/>
                <a:ea typeface="Aptos"/>
                <a:cs typeface="Aptos"/>
              </a:rPr>
              <a:t>Task verification failure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C30AE0F-B7F6-4204-A6CD-B50D117507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0" y="2381250"/>
            <a:ext cx="432435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63653"/>
          </a:solidFill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1BD4033-2AFC-4E36-8BCB-19C0077E70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0" y="2381250"/>
            <a:ext cx="3891915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DD4BF"/>
          </a:solidFill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9C3CB26-7F18-406A-8A77-42229B611B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2305050"/>
            <a:ext cx="112395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2DD4BF"/>
                </a:solidFill>
                <a:latin typeface="Aptos Display"/>
                <a:ea typeface="Aptos Display"/>
                <a:cs typeface="Aptos Display"/>
              </a:defRPr>
            </a:pPr>
            <a:r>
              <a:rPr sz="1050" b="1">
                <a:solidFill>
                  <a:srgbClr val="2DD4BF"/>
                </a:solidFill>
                <a:latin typeface="Aptos Display"/>
                <a:ea typeface="Aptos Display"/>
                <a:cs typeface="Aptos Display"/>
              </a:rPr>
              <a:t>18 rows / 51.4%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6EC0280-3BFB-4AA5-8EDF-62830270E5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2863850"/>
            <a:ext cx="247650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975">
                <a:solidFill>
                  <a:srgbClr val="B8C4D8"/>
                </a:solidFill>
                <a:latin typeface="Aptos"/>
                <a:ea typeface="Aptos"/>
                <a:cs typeface="Aptos"/>
              </a:defRPr>
            </a:pPr>
            <a:r>
              <a:rPr sz="975">
                <a:solidFill>
                  <a:srgbClr val="B8C4D8"/>
                </a:solidFill>
                <a:latin typeface="Aptos"/>
                <a:ea typeface="Aptos"/>
                <a:cs typeface="Aptos"/>
              </a:rPr>
              <a:t>Inter-agent / orchestration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4D07F19-EBD7-4D9F-BBCC-A6E0C83E61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0" y="2921000"/>
            <a:ext cx="432435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63653"/>
          </a:solidFill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637280A-E352-4B23-A60C-D5B56228BB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0" y="2921000"/>
            <a:ext cx="2810828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9E0B"/>
          </a:solidFill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229D3E1-A1FF-4234-91ED-619F8B2232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2844800"/>
            <a:ext cx="112395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F59E0B"/>
                </a:solidFill>
                <a:latin typeface="Aptos Display"/>
                <a:ea typeface="Aptos Display"/>
                <a:cs typeface="Aptos Display"/>
              </a:defRPr>
            </a:pPr>
            <a:r>
              <a:rPr sz="1050" b="1">
                <a:solidFill>
                  <a:srgbClr val="F59E0B"/>
                </a:solidFill>
                <a:latin typeface="Aptos Display"/>
                <a:ea typeface="Aptos Display"/>
                <a:cs typeface="Aptos Display"/>
              </a:rPr>
              <a:t>13 rows / 37.1%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032F2D1-09F6-4360-91CE-E4C0CD6C27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3403600"/>
            <a:ext cx="247650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975">
                <a:solidFill>
                  <a:srgbClr val="B8C4D8"/>
                </a:solidFill>
                <a:latin typeface="Aptos"/>
                <a:ea typeface="Aptos"/>
                <a:cs typeface="Aptos"/>
              </a:defRPr>
            </a:pPr>
            <a:r>
              <a:rPr sz="975">
                <a:solidFill>
                  <a:srgbClr val="B8C4D8"/>
                </a:solidFill>
                <a:latin typeface="Aptos"/>
                <a:ea typeface="Aptos"/>
                <a:cs typeface="Aptos"/>
              </a:rPr>
              <a:t>Specification failure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FFA278A-CC4D-40B5-B74B-69265B73B9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0" y="3460750"/>
            <a:ext cx="432435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63653"/>
          </a:solidFill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B40AE14-C4FF-4949-9174-659BB92914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0" y="3460750"/>
            <a:ext cx="86487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8BDF8"/>
          </a:solidFill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E38410C-E8C9-4248-AE3D-6480321675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3384550"/>
            <a:ext cx="112395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38BDF8"/>
                </a:solidFill>
                <a:latin typeface="Aptos Display"/>
                <a:ea typeface="Aptos Display"/>
                <a:cs typeface="Aptos Display"/>
              </a:defRPr>
            </a:pPr>
            <a:r>
              <a:rPr sz="1050" b="1">
                <a:solidFill>
                  <a:srgbClr val="38BDF8"/>
                </a:solidFill>
                <a:latin typeface="Aptos Display"/>
                <a:ea typeface="Aptos Display"/>
                <a:cs typeface="Aptos Display"/>
              </a:rPr>
              <a:t>4 rows / 11.4%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45AB8335-3188-4D71-8C60-A5CA235794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4495800"/>
            <a:ext cx="4095750" cy="1257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233B"/>
          </a:solidFill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3ADC659B-D71E-40EC-9E9B-20917DD452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4495800"/>
            <a:ext cx="40957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DD4BF"/>
          </a:solidFill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A1E41D1B-4BA7-4F5B-AC6B-1852802515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4686300"/>
            <a:ext cx="371475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F8FAFC"/>
                </a:solidFill>
                <a:latin typeface="Aptos Display"/>
                <a:ea typeface="Aptos Display"/>
                <a:cs typeface="Aptos Display"/>
              </a:defRPr>
            </a:pPr>
            <a:r>
              <a:rPr sz="1425" b="1">
                <a:solidFill>
                  <a:srgbClr val="F8FAFC"/>
                </a:solidFill>
                <a:latin typeface="Aptos Display"/>
                <a:ea typeface="Aptos Display"/>
                <a:cs typeface="Aptos Display"/>
              </a:rPr>
              <a:t>What it means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72E65AC5-E109-4259-BE71-1411A2018A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5086350"/>
            <a:ext cx="3714750" cy="4762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050">
                <a:solidFill>
                  <a:srgbClr val="B8C4D8"/>
                </a:solidFill>
                <a:latin typeface="Aptos"/>
                <a:ea typeface="Aptos"/>
                <a:cs typeface="Aptos"/>
              </a:defRPr>
            </a:pPr>
            <a:r>
              <a:rPr sz="1050">
                <a:solidFill>
                  <a:srgbClr val="B8C4D8"/>
                </a:solidFill>
                <a:latin typeface="Aptos"/>
                <a:ea typeface="Aptos"/>
                <a:cs typeface="Aptos"/>
              </a:rPr>
              <a:t>The dominant issue is not transport plumbing. It is unsupported finalization: the agent reaches an answer without enough deciding evidence.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F439CF8D-6004-4A47-8DAD-E03C46562E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4495800"/>
            <a:ext cx="4095750" cy="1257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233B"/>
          </a:solidFill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92B56D4A-84BE-480D-BB1B-C1D9ABF623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4495800"/>
            <a:ext cx="40957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9E0B"/>
          </a:solidFill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81DA13D2-7520-4843-914D-A2C103ED2F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4686300"/>
            <a:ext cx="371475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F8FAFC"/>
                </a:solidFill>
                <a:latin typeface="Aptos Display"/>
                <a:ea typeface="Aptos Display"/>
                <a:cs typeface="Aptos Display"/>
              </a:defRPr>
            </a:pPr>
            <a:r>
              <a:rPr sz="1425" b="1">
                <a:solidFill>
                  <a:srgbClr val="F8FAFC"/>
                </a:solidFill>
                <a:latin typeface="Aptos Display"/>
                <a:ea typeface="Aptos Display"/>
                <a:cs typeface="Aptos Display"/>
              </a:rPr>
              <a:t>Why it matters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76A44E81-743F-4EC1-A702-82711F6AE1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5086350"/>
            <a:ext cx="3714750" cy="4762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050">
                <a:solidFill>
                  <a:srgbClr val="B8C4D8"/>
                </a:solidFill>
                <a:latin typeface="Aptos"/>
                <a:ea typeface="Aptos"/>
                <a:cs typeface="Aptos"/>
              </a:defRPr>
            </a:pPr>
            <a:r>
              <a:rPr sz="1050">
                <a:solidFill>
                  <a:srgbClr val="B8C4D8"/>
                </a:solidFill>
                <a:latin typeface="Aptos"/>
                <a:ea typeface="Aptos"/>
                <a:cs typeface="Aptos"/>
              </a:rPr>
              <a:t>A benchmark that records failures can test mitigation strategies instead of only reporting clean-looking completions.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A62289B3-2DAD-4903-B374-E6D9AA9DC2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38900"/>
            <a:ext cx="103632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750">
                <a:solidFill>
                  <a:srgbClr val="6F7F99"/>
                </a:solidFill>
                <a:latin typeface="Aptos"/>
                <a:ea typeface="Aptos"/>
                <a:cs typeface="Aptos"/>
              </a:defRPr>
            </a:pPr>
            <a:r>
              <a:rPr sz="750">
                <a:solidFill>
                  <a:srgbClr val="6F7F99"/>
                </a:solidFill>
                <a:latin typeface="Aptos"/>
                <a:ea typeface="Aptos"/>
                <a:cs typeface="Aptos"/>
              </a:rPr>
              <a:t>Sources: results/metrics/failure_taxonomy_counts.csv; docs/failure_taxonomy_evidence.md.</a:t>
            </a:r>
          </a:p>
        </p:txBody>
      </p:sp>
    </p:spTree>
    <p:extLst>
      <p:ext uri="{BB962C8B-B14F-4D97-AF65-F5344CB8AC3E}">
        <p14:creationId xmlns:p14="http://schemas.microsoft.com/office/powerpoint/2010/main" val="1791455405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0A102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73DFB885-42BB-42FD-936B-F0FB8C0C27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1020"/>
          </a:solidFill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21A1C63-9133-430C-A16E-A15F02004B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DD4BF"/>
          </a:solidFill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0793E70-0960-4B83-AD9D-69C5595F37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0" y="0"/>
            <a:ext cx="2095500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9E0B"/>
          </a:solidFill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2D88332-4524-48F4-9D3D-ABE9501F57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457200"/>
            <a:ext cx="3810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DD4BF"/>
          </a:solidFill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8B05F97-0682-47CE-9B2F-0678F5D9AA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34290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2DD4BF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2DD4BF"/>
                </a:solidFill>
                <a:latin typeface="Aptos"/>
                <a:ea typeface="Aptos"/>
                <a:cs typeface="Aptos"/>
              </a:rPr>
              <a:t>MITIGATION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252257D-8E83-457A-99AE-23F29B4B1A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66750"/>
            <a:ext cx="8858250" cy="666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F8FAFC"/>
                </a:solidFill>
                <a:latin typeface="Aptos Display"/>
                <a:ea typeface="Aptos Display"/>
                <a:cs typeface="Aptos Display"/>
              </a:defRPr>
            </a:pPr>
            <a:r>
              <a:rPr sz="2100" b="1">
                <a:solidFill>
                  <a:srgbClr val="F8FAFC"/>
                </a:solidFill>
                <a:latin typeface="Aptos Display"/>
                <a:ea typeface="Aptos Display"/>
                <a:cs typeface="Aptos Display"/>
              </a:rPr>
              <a:t>The mitigation ladder targets unsupported final answers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A6F40F5-6655-4953-AA6B-8C78C07DB8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43050"/>
            <a:ext cx="885825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125">
                <a:solidFill>
                  <a:srgbClr val="B8C4D8"/>
                </a:solidFill>
                <a:latin typeface="Aptos"/>
                <a:ea typeface="Aptos"/>
                <a:cs typeface="Aptos"/>
              </a:defRPr>
            </a:pPr>
            <a:r>
              <a:rPr sz="1125">
                <a:solidFill>
                  <a:srgbClr val="B8C4D8"/>
                </a:solidFill>
                <a:latin typeface="Aptos"/>
                <a:ea typeface="Aptos"/>
                <a:cs typeface="Aptos"/>
              </a:rPr>
              <a:t>Keep this as a design result unless rerun rows land.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0B78D97-A493-4DB6-91CC-A12F7C0181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457200"/>
            <a:ext cx="5334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6F7F99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6F7F99"/>
                </a:solidFill>
                <a:latin typeface="Aptos"/>
                <a:ea typeface="Aptos"/>
                <a:cs typeface="Aptos"/>
              </a:rPr>
              <a:t>10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D843877-582C-4671-A5E4-93660784F3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019300"/>
            <a:ext cx="2576513" cy="1181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233B"/>
          </a:solidFill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CA79B2F-F6A2-4529-BBF1-B2BDA87AE1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019300"/>
            <a:ext cx="2576513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9E0B"/>
          </a:solidFill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F279DB0-743E-4CCF-904D-6EAABFED57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305050"/>
            <a:ext cx="2271713" cy="666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8FAFC"/>
                </a:solidFill>
                <a:latin typeface="Aptos Display"/>
                <a:ea typeface="Aptos Display"/>
                <a:cs typeface="Aptos Display"/>
              </a:defRPr>
            </a:pPr>
            <a:r>
              <a:rPr sz="1125" b="1">
                <a:solidFill>
                  <a:srgbClr val="F8FAFC"/>
                </a:solidFill>
                <a:latin typeface="Aptos Display"/>
                <a:ea typeface="Aptos Display"/>
                <a:cs typeface="Aptos Display"/>
              </a:rPr>
              <a:t>Detect missing</a:t>
            </a:r>
          </a:p>
          <a:p xmlns:a="http://schemas.openxmlformats.org/drawingml/2006/main">
            <a:pPr algn="ctr">
              <a:defRPr sz="1125" b="1">
                <a:solidFill>
                  <a:srgbClr val="F8FAFC"/>
                </a:solidFill>
                <a:latin typeface="Aptos Display"/>
                <a:ea typeface="Aptos Display"/>
                <a:cs typeface="Aptos Display"/>
              </a:defRPr>
            </a:pPr>
            <a:r>
              <a:rPr sz="1125" b="1">
                <a:solidFill>
                  <a:srgbClr val="F8FAFC"/>
                </a:solidFill>
                <a:latin typeface="Aptos Display"/>
                <a:ea typeface="Aptos Display"/>
                <a:cs typeface="Aptos Display"/>
              </a:rPr>
              <a:t>evidence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FDF48DA-F239-46FA-B9D2-F93CD86709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81363" y="2438400"/>
            <a:ext cx="133350" cy="304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1950">
                <a:solidFill>
                  <a:srgbClr val="6F7F99"/>
                </a:solidFill>
                <a:latin typeface="Aptos Display"/>
                <a:ea typeface="Aptos Display"/>
                <a:cs typeface="Aptos Display"/>
              </a:defRPr>
            </a:pPr>
            <a:r>
              <a:rPr sz="1950">
                <a:solidFill>
                  <a:srgbClr val="6F7F99"/>
                </a:solidFill>
                <a:latin typeface="Aptos Display"/>
                <a:ea typeface="Aptos Display"/>
                <a:cs typeface="Aptos Display"/>
              </a:rPr>
              <a:t>→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69AE46E-C8A8-4588-818D-863E38C1B3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33763" y="2019300"/>
            <a:ext cx="2576513" cy="1181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2E4A"/>
          </a:solidFill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D6E7D62-6203-4896-B4BE-B068C88487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33763" y="2019300"/>
            <a:ext cx="2576513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9E0B"/>
          </a:solidFill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766CFC9-FF8E-4E16-A582-C71DB36C09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86163" y="2305050"/>
            <a:ext cx="2271713" cy="666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8FAFC"/>
                </a:solidFill>
                <a:latin typeface="Aptos Display"/>
                <a:ea typeface="Aptos Display"/>
                <a:cs typeface="Aptos Display"/>
              </a:defRPr>
            </a:pPr>
            <a:r>
              <a:rPr sz="1125" b="1">
                <a:solidFill>
                  <a:srgbClr val="F8FAFC"/>
                </a:solidFill>
                <a:latin typeface="Aptos Display"/>
                <a:ea typeface="Aptos Display"/>
                <a:cs typeface="Aptos Display"/>
              </a:rPr>
              <a:t>One bounded</a:t>
            </a:r>
          </a:p>
          <a:p xmlns:a="http://schemas.openxmlformats.org/drawingml/2006/main">
            <a:pPr algn="ctr">
              <a:defRPr sz="1125" b="1">
                <a:solidFill>
                  <a:srgbClr val="F8FAFC"/>
                </a:solidFill>
                <a:latin typeface="Aptos Display"/>
                <a:ea typeface="Aptos Display"/>
                <a:cs typeface="Aptos Display"/>
              </a:defRPr>
            </a:pPr>
            <a:r>
              <a:rPr sz="1125" b="1">
                <a:solidFill>
                  <a:srgbClr val="F8FAFC"/>
                </a:solidFill>
                <a:latin typeface="Aptos Display"/>
                <a:ea typeface="Aptos Display"/>
                <a:cs typeface="Aptos Display"/>
              </a:rPr>
              <a:t>repair attempt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7BB8809-6C65-476A-8EA9-BD3F22D988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29325" y="2438400"/>
            <a:ext cx="133350" cy="304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1950">
                <a:solidFill>
                  <a:srgbClr val="6F7F99"/>
                </a:solidFill>
                <a:latin typeface="Aptos Display"/>
                <a:ea typeface="Aptos Display"/>
                <a:cs typeface="Aptos Display"/>
              </a:defRPr>
            </a:pPr>
            <a:r>
              <a:rPr sz="1950">
                <a:solidFill>
                  <a:srgbClr val="6F7F99"/>
                </a:solidFill>
                <a:latin typeface="Aptos Display"/>
                <a:ea typeface="Aptos Display"/>
                <a:cs typeface="Aptos Display"/>
              </a:rPr>
              <a:t>→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D0F5F4A-0882-46B2-A3F1-D35C2F4C03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81725" y="2019300"/>
            <a:ext cx="2576513" cy="1181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233B"/>
          </a:solidFill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9B826C5-C255-4259-A8BA-F07EB057D5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81725" y="2019300"/>
            <a:ext cx="2576513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9E0B"/>
          </a:solidFill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54BDB2F-8445-4601-A0EC-DF4243084D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34125" y="2305050"/>
            <a:ext cx="2271713" cy="666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8FAFC"/>
                </a:solidFill>
                <a:latin typeface="Aptos Display"/>
                <a:ea typeface="Aptos Display"/>
                <a:cs typeface="Aptos Display"/>
              </a:defRPr>
            </a:pPr>
            <a:r>
              <a:rPr sz="1125" b="1">
                <a:solidFill>
                  <a:srgbClr val="F8FAFC"/>
                </a:solidFill>
                <a:latin typeface="Aptos Display"/>
                <a:ea typeface="Aptos Display"/>
                <a:cs typeface="Aptos Display"/>
              </a:rPr>
              <a:t>Fault/risk</a:t>
            </a:r>
          </a:p>
          <a:p xmlns:a="http://schemas.openxmlformats.org/drawingml/2006/main">
            <a:pPr algn="ctr">
              <a:defRPr sz="1125" b="1">
                <a:solidFill>
                  <a:srgbClr val="F8FAFC"/>
                </a:solidFill>
                <a:latin typeface="Aptos Display"/>
                <a:ea typeface="Aptos Display"/>
                <a:cs typeface="Aptos Display"/>
              </a:defRPr>
            </a:pPr>
            <a:r>
              <a:rPr sz="1125" b="1">
                <a:solidFill>
                  <a:srgbClr val="F8FAFC"/>
                </a:solidFill>
                <a:latin typeface="Aptos Display"/>
                <a:ea typeface="Aptos Display"/>
                <a:cs typeface="Aptos Display"/>
              </a:rPr>
              <a:t>adjudication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E2122E1C-DD13-4EA0-B4A5-7B0B605409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77288" y="2438400"/>
            <a:ext cx="133350" cy="304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1950">
                <a:solidFill>
                  <a:srgbClr val="6F7F99"/>
                </a:solidFill>
                <a:latin typeface="Aptos Display"/>
                <a:ea typeface="Aptos Display"/>
                <a:cs typeface="Aptos Display"/>
              </a:defRPr>
            </a:pPr>
            <a:r>
              <a:rPr sz="1950">
                <a:solidFill>
                  <a:srgbClr val="6F7F99"/>
                </a:solidFill>
                <a:latin typeface="Aptos Display"/>
                <a:ea typeface="Aptos Display"/>
                <a:cs typeface="Aptos Display"/>
              </a:rPr>
              <a:t>→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8CEE940D-3B98-4C78-8EA5-8425ABE07C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29688" y="2019300"/>
            <a:ext cx="2576513" cy="1181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2E4A"/>
          </a:solidFill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16C0EB50-4B6B-45E7-BEB0-CE2F694202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29688" y="2019300"/>
            <a:ext cx="2576513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9E0B"/>
          </a:solidFill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C7EB2F12-66AD-45C1-8E76-DE6AFD3CD3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82088" y="2305050"/>
            <a:ext cx="2271713" cy="666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8FAFC"/>
                </a:solidFill>
                <a:latin typeface="Aptos Display"/>
                <a:ea typeface="Aptos Display"/>
                <a:cs typeface="Aptos Display"/>
              </a:defRPr>
            </a:pPr>
            <a:r>
              <a:rPr sz="1125" b="1">
                <a:solidFill>
                  <a:srgbClr val="F8FAFC"/>
                </a:solidFill>
                <a:latin typeface="Aptos Display"/>
                <a:ea typeface="Aptos Display"/>
                <a:cs typeface="Aptos Display"/>
              </a:rPr>
              <a:t>Refuse or cite</a:t>
            </a:r>
          </a:p>
          <a:p xmlns:a="http://schemas.openxmlformats.org/drawingml/2006/main">
            <a:pPr algn="ctr">
              <a:defRPr sz="1125" b="1">
                <a:solidFill>
                  <a:srgbClr val="F8FAFC"/>
                </a:solidFill>
                <a:latin typeface="Aptos Display"/>
                <a:ea typeface="Aptos Display"/>
                <a:cs typeface="Aptos Display"/>
              </a:defRPr>
            </a:pPr>
            <a:r>
              <a:rPr sz="1125" b="1">
                <a:solidFill>
                  <a:srgbClr val="F8FAFC"/>
                </a:solidFill>
                <a:latin typeface="Aptos Display"/>
                <a:ea typeface="Aptos Display"/>
                <a:cs typeface="Aptos Display"/>
              </a:rPr>
              <a:t>deciding evidence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503C59DF-843F-44CD-80D6-EAA6D6CA73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4000500"/>
            <a:ext cx="4191000" cy="1333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233B"/>
          </a:solidFill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A9E52107-9A56-432F-9396-4153853AB6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4000500"/>
            <a:ext cx="41910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DD4BF"/>
          </a:solidFill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5C0397A6-618B-4C4C-9CB3-49396B4E32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4191000"/>
            <a:ext cx="381000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F8FAFC"/>
                </a:solidFill>
                <a:latin typeface="Aptos Display"/>
                <a:ea typeface="Aptos Display"/>
                <a:cs typeface="Aptos Display"/>
              </a:defRPr>
            </a:pPr>
            <a:r>
              <a:rPr sz="1425" b="1">
                <a:solidFill>
                  <a:srgbClr val="F8FAFC"/>
                </a:solidFill>
                <a:latin typeface="Aptos Display"/>
                <a:ea typeface="Aptos Display"/>
                <a:cs typeface="Aptos Display"/>
              </a:rPr>
              <a:t>Ready now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675A9B1C-245A-4FAC-BE22-83ACE0D5F9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4591050"/>
            <a:ext cx="3810000" cy="552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050">
                <a:solidFill>
                  <a:srgbClr val="B8C4D8"/>
                </a:solidFill>
                <a:latin typeface="Aptos"/>
                <a:ea typeface="Aptos"/>
                <a:cs typeface="Aptos"/>
              </a:defRPr>
            </a:pPr>
            <a:r>
              <a:rPr sz="1050">
                <a:solidFill>
                  <a:srgbClr val="B8C4D8"/>
                </a:solidFill>
                <a:latin typeface="Aptos"/>
                <a:ea typeface="Aptos"/>
                <a:cs typeface="Aptos"/>
              </a:rPr>
              <a:t>The taxonomy and mitigation design are paper-ready: they explain what failed and what kind of guard should reduce it.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8CE90BCF-8340-4988-9CEC-E7A3E7340E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4000500"/>
            <a:ext cx="4191000" cy="1333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233B"/>
          </a:solidFill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56375C4F-2B1A-419D-BC27-EB18AC021D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4000500"/>
            <a:ext cx="41910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9E0B"/>
          </a:solidFill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7F8834DB-A285-4CF5-AEFB-582CE6C4E8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4191000"/>
            <a:ext cx="381000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F8FAFC"/>
                </a:solidFill>
                <a:latin typeface="Aptos Display"/>
                <a:ea typeface="Aptos Display"/>
                <a:cs typeface="Aptos Display"/>
              </a:defRPr>
            </a:pPr>
            <a:r>
              <a:rPr sz="1425" b="1">
                <a:solidFill>
                  <a:srgbClr val="F8FAFC"/>
                </a:solidFill>
                <a:latin typeface="Aptos Display"/>
                <a:ea typeface="Aptos Display"/>
                <a:cs typeface="Aptos Display"/>
              </a:rPr>
              <a:t>Pending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CD00C618-5CEF-49D2-B807-80B38BF330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4591050"/>
            <a:ext cx="3810000" cy="552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050">
                <a:solidFill>
                  <a:srgbClr val="B8C4D8"/>
                </a:solidFill>
                <a:latin typeface="Aptos"/>
                <a:ea typeface="Aptos"/>
                <a:cs typeface="Aptos"/>
              </a:defRPr>
            </a:pPr>
            <a:r>
              <a:rPr sz="1050">
                <a:solidFill>
                  <a:srgbClr val="B8C4D8"/>
                </a:solidFill>
                <a:latin typeface="Aptos"/>
                <a:ea typeface="Aptos"/>
                <a:cs typeface="Aptos"/>
              </a:rPr>
              <a:t>Before/after mitigation rows remain pending. Do not turn Slide 10 into a quantitative win unless mitigation_before_after.csv has real rows.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CA7B73B4-F393-497E-920E-5ED00D6EAF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38900"/>
            <a:ext cx="103632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750">
                <a:solidFill>
                  <a:srgbClr val="6F7F99"/>
                </a:solidFill>
                <a:latin typeface="Aptos"/>
                <a:ea typeface="Aptos"/>
                <a:cs typeface="Aptos"/>
              </a:defRPr>
            </a:pPr>
            <a:r>
              <a:rPr sz="750">
                <a:solidFill>
                  <a:srgbClr val="6F7F99"/>
                </a:solidFill>
                <a:latin typeface="Aptos"/>
                <a:ea typeface="Aptos"/>
                <a:cs typeface="Aptos"/>
              </a:rPr>
              <a:t>Sources: docs/mitigation_recovery_adjudication.md; results/metrics/mitigation_run_inventory.csv.</a:t>
            </a:r>
          </a:p>
        </p:txBody>
      </p:sp>
    </p:spTree>
    <p:extLst>
      <p:ext uri="{BB962C8B-B14F-4D97-AF65-F5344CB8AC3E}">
        <p14:creationId xmlns:p14="http://schemas.microsoft.com/office/powerpoint/2010/main" val="1387596060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0A102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7EFF573E-7741-49A4-99C8-0C9F79E59A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1020"/>
          </a:solidFill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1129DED-B943-44EA-A979-B4824F8123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DD4BF"/>
          </a:solidFill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0FAFF6D-EA91-4FE9-B65E-13E253BBA2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0" y="0"/>
            <a:ext cx="2095500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9E0B"/>
          </a:solidFill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CBD88AF-DF58-482C-B1E9-C12122BC1B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457200"/>
            <a:ext cx="3810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DD4BF"/>
          </a:solidFill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C9B2065-9A4D-45F2-9307-8EC258BCFB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34290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2DD4BF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2DD4BF"/>
                </a:solidFill>
                <a:latin typeface="Aptos"/>
                <a:ea typeface="Aptos"/>
                <a:cs typeface="Aptos"/>
              </a:rPr>
              <a:t>REPRODUCIBILITY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11EE7B6-D81C-47DB-831D-0B52B38314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66750"/>
            <a:ext cx="8858250" cy="666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F8FAFC"/>
                </a:solidFill>
                <a:latin typeface="Aptos Display"/>
                <a:ea typeface="Aptos Display"/>
                <a:cs typeface="Aptos Display"/>
              </a:defRPr>
            </a:pPr>
            <a:r>
              <a:rPr sz="2100" b="1">
                <a:solidFill>
                  <a:srgbClr val="F8FAFC"/>
                </a:solidFill>
                <a:latin typeface="Aptos Display"/>
                <a:ea typeface="Aptos Display"/>
                <a:cs typeface="Aptos Display"/>
              </a:rPr>
              <a:t>Every claim should trace back to a committed artifact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8653767-45C3-4ACC-94BF-7B0C0835EA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43050"/>
            <a:ext cx="885825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125">
                <a:solidFill>
                  <a:srgbClr val="B8C4D8"/>
                </a:solidFill>
                <a:latin typeface="Aptos"/>
                <a:ea typeface="Aptos"/>
                <a:cs typeface="Aptos"/>
              </a:defRPr>
            </a:pPr>
            <a:r>
              <a:rPr sz="1125">
                <a:solidFill>
                  <a:srgbClr val="B8C4D8"/>
                </a:solidFill>
                <a:latin typeface="Aptos"/>
                <a:ea typeface="Aptos"/>
                <a:cs typeface="Aptos"/>
              </a:rPr>
              <a:t>This is the answer to "what exactly did you run?"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FC3CA22-BA67-4BEA-AD2F-880E37ED01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457200"/>
            <a:ext cx="5334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6F7F99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6F7F99"/>
                </a:solidFill>
                <a:latin typeface="Aptos"/>
                <a:ea typeface="Aptos"/>
                <a:cs typeface="Aptos"/>
              </a:rPr>
              <a:t>11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C668B73-2D53-49D7-B9E8-E9E76CD633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095500"/>
            <a:ext cx="197358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233B"/>
          </a:solidFill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A1C6A56-BC7C-4053-9D63-FF60090257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095500"/>
            <a:ext cx="197358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DD4BF"/>
          </a:solidFill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017F219-AFCD-4355-A54E-84831726EF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2381250"/>
            <a:ext cx="1668780" cy="552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8FAFC"/>
                </a:solidFill>
                <a:latin typeface="Aptos Display"/>
                <a:ea typeface="Aptos Display"/>
                <a:cs typeface="Aptos Display"/>
              </a:defRPr>
            </a:pPr>
            <a:r>
              <a:rPr sz="1125" b="1">
                <a:solidFill>
                  <a:srgbClr val="F8FAFC"/>
                </a:solidFill>
                <a:latin typeface="Aptos Display"/>
                <a:ea typeface="Aptos Display"/>
                <a:cs typeface="Aptos Display"/>
              </a:rPr>
              <a:t>Run ID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A3B0CAB-382F-423B-8377-E3B1D47BF2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11780" y="2457450"/>
            <a:ext cx="133350" cy="304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1950">
                <a:solidFill>
                  <a:srgbClr val="6F7F99"/>
                </a:solidFill>
                <a:latin typeface="Aptos Display"/>
                <a:ea typeface="Aptos Display"/>
                <a:cs typeface="Aptos Display"/>
              </a:defRPr>
            </a:pPr>
            <a:r>
              <a:rPr sz="1950">
                <a:solidFill>
                  <a:srgbClr val="6F7F99"/>
                </a:solidFill>
                <a:latin typeface="Aptos Display"/>
                <a:ea typeface="Aptos Display"/>
                <a:cs typeface="Aptos Display"/>
              </a:rPr>
              <a:t>→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2E0EF49-3DF2-47CE-A44D-5E8F48F473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64180" y="2095500"/>
            <a:ext cx="197358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2E4A"/>
          </a:solidFill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3716E8A-B898-4110-99A9-5DD576263D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64180" y="2095500"/>
            <a:ext cx="197358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DD4BF"/>
          </a:solidFill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55122F6-4E27-4BDC-9B91-49DCDCF691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16580" y="2381250"/>
            <a:ext cx="1668780" cy="552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8FAFC"/>
                </a:solidFill>
                <a:latin typeface="Aptos Display"/>
                <a:ea typeface="Aptos Display"/>
                <a:cs typeface="Aptos Display"/>
              </a:defRPr>
            </a:pPr>
            <a:r>
              <a:rPr sz="1125" b="1">
                <a:solidFill>
                  <a:srgbClr val="F8FAFC"/>
                </a:solidFill>
                <a:latin typeface="Aptos Display"/>
                <a:ea typeface="Aptos Display"/>
                <a:cs typeface="Aptos Display"/>
              </a:rPr>
              <a:t>Cell folder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00AAC88-1717-4504-A8B6-7181A3E71D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6810" y="2457450"/>
            <a:ext cx="133350" cy="304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1950">
                <a:solidFill>
                  <a:srgbClr val="6F7F99"/>
                </a:solidFill>
                <a:latin typeface="Aptos Display"/>
                <a:ea typeface="Aptos Display"/>
                <a:cs typeface="Aptos Display"/>
              </a:defRPr>
            </a:pPr>
            <a:r>
              <a:rPr sz="1950">
                <a:solidFill>
                  <a:srgbClr val="6F7F99"/>
                </a:solidFill>
                <a:latin typeface="Aptos Display"/>
                <a:ea typeface="Aptos Display"/>
                <a:cs typeface="Aptos Display"/>
              </a:rPr>
              <a:t>→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7CF972F-32A9-43C1-86F5-1B3CC92B33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09210" y="2095500"/>
            <a:ext cx="197358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233B"/>
          </a:solidFill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E42C9C2-A8DA-4BF9-B30D-250A0A758B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09210" y="2095500"/>
            <a:ext cx="197358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DD4BF"/>
          </a:solidFill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BA35221-A9D9-4D45-92A2-DF485E91A0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61610" y="2381250"/>
            <a:ext cx="1668780" cy="552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8FAFC"/>
                </a:solidFill>
                <a:latin typeface="Aptos Display"/>
                <a:ea typeface="Aptos Display"/>
                <a:cs typeface="Aptos Display"/>
              </a:defRPr>
            </a:pPr>
            <a:r>
              <a:rPr sz="1125" b="1">
                <a:solidFill>
                  <a:srgbClr val="F8FAFC"/>
                </a:solidFill>
                <a:latin typeface="Aptos Display"/>
                <a:ea typeface="Aptos Display"/>
                <a:cs typeface="Aptos Display"/>
              </a:rPr>
              <a:t>Raw JSON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81D36E6-5DDF-4D04-B163-1C6F8A2081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01840" y="2457450"/>
            <a:ext cx="133350" cy="304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1950">
                <a:solidFill>
                  <a:srgbClr val="6F7F99"/>
                </a:solidFill>
                <a:latin typeface="Aptos Display"/>
                <a:ea typeface="Aptos Display"/>
                <a:cs typeface="Aptos Display"/>
              </a:defRPr>
            </a:pPr>
            <a:r>
              <a:rPr sz="1950">
                <a:solidFill>
                  <a:srgbClr val="6F7F99"/>
                </a:solidFill>
                <a:latin typeface="Aptos Display"/>
                <a:ea typeface="Aptos Display"/>
                <a:cs typeface="Aptos Display"/>
              </a:rPr>
              <a:t>→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9A14EB8C-BF27-49FB-AAB6-DD1D9F74A0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54240" y="2095500"/>
            <a:ext cx="197358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2E4A"/>
          </a:solidFill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45D6632C-B03A-4E55-A67D-DC5C7F47F8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54240" y="2095500"/>
            <a:ext cx="197358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DD4BF"/>
          </a:solidFill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6714C93E-19C1-4570-8E88-857C6F2CDC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06640" y="2381250"/>
            <a:ext cx="1668780" cy="552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8FAFC"/>
                </a:solidFill>
                <a:latin typeface="Aptos Display"/>
                <a:ea typeface="Aptos Display"/>
                <a:cs typeface="Aptos Display"/>
              </a:defRPr>
            </a:pPr>
            <a:r>
              <a:rPr sz="1125" b="1">
                <a:solidFill>
                  <a:srgbClr val="F8FAFC"/>
                </a:solidFill>
                <a:latin typeface="Aptos Display"/>
                <a:ea typeface="Aptos Display"/>
                <a:cs typeface="Aptos Display"/>
              </a:rPr>
              <a:t>Metrics CSV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11078B0A-38DB-4F6F-8040-43A877589A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46870" y="2457450"/>
            <a:ext cx="133350" cy="304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1950">
                <a:solidFill>
                  <a:srgbClr val="6F7F99"/>
                </a:solidFill>
                <a:latin typeface="Aptos Display"/>
                <a:ea typeface="Aptos Display"/>
                <a:cs typeface="Aptos Display"/>
              </a:defRPr>
            </a:pPr>
            <a:r>
              <a:rPr sz="1950">
                <a:solidFill>
                  <a:srgbClr val="6F7F99"/>
                </a:solidFill>
                <a:latin typeface="Aptos Display"/>
                <a:ea typeface="Aptos Display"/>
                <a:cs typeface="Aptos Display"/>
              </a:rPr>
              <a:t>→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BB744A69-0173-4692-9AF5-7A9B827B0D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99270" y="2095500"/>
            <a:ext cx="197358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233B"/>
          </a:solidFill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0A823E33-9B9A-4C6F-9697-B6F52EA8F9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99270" y="2095500"/>
            <a:ext cx="197358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9E0B"/>
          </a:solidFill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133FF00C-897F-42A1-AE93-808E7A0C65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51670" y="2381250"/>
            <a:ext cx="1668780" cy="552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8FAFC"/>
                </a:solidFill>
                <a:latin typeface="Aptos Display"/>
                <a:ea typeface="Aptos Display"/>
                <a:cs typeface="Aptos Display"/>
              </a:defRPr>
            </a:pPr>
            <a:r>
              <a:rPr sz="1125" b="1">
                <a:solidFill>
                  <a:srgbClr val="F8FAFC"/>
                </a:solidFill>
                <a:latin typeface="Aptos Display"/>
                <a:ea typeface="Aptos Display"/>
                <a:cs typeface="Aptos Display"/>
              </a:rPr>
              <a:t>Figure / table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3D3CDFED-CA4E-4247-85AD-85D07D7F21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886200"/>
            <a:ext cx="3124200" cy="1333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233B"/>
          </a:solidFill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26A26460-909E-447F-9484-CDA6AE72B9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886200"/>
            <a:ext cx="31242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8BDF8"/>
          </a:solidFill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59E0C2B3-883B-46B1-8C48-29E4E9F357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4076700"/>
            <a:ext cx="274320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F8FAFC"/>
                </a:solidFill>
                <a:latin typeface="Aptos Display"/>
                <a:ea typeface="Aptos Display"/>
                <a:cs typeface="Aptos Display"/>
              </a:defRPr>
            </a:pPr>
            <a:r>
              <a:rPr sz="1425" b="1">
                <a:solidFill>
                  <a:srgbClr val="F8FAFC"/>
                </a:solidFill>
                <a:latin typeface="Aptos Display"/>
                <a:ea typeface="Aptos Display"/>
                <a:cs typeface="Aptos Display"/>
              </a:rPr>
              <a:t>Artifact ledger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360203AC-58CE-4F60-B35F-FDDE925109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4476750"/>
            <a:ext cx="2743200" cy="552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050">
                <a:solidFill>
                  <a:srgbClr val="B8C4D8"/>
                </a:solidFill>
                <a:latin typeface="Aptos"/>
                <a:ea typeface="Aptos"/>
                <a:cs typeface="Aptos"/>
              </a:defRPr>
            </a:pPr>
            <a:r>
              <a:rPr sz="1050">
                <a:solidFill>
                  <a:srgbClr val="B8C4D8"/>
                </a:solidFill>
                <a:latin typeface="Aptos"/>
                <a:ea typeface="Aptos"/>
                <a:cs typeface="Aptos"/>
              </a:rPr>
              <a:t>validation_log.md, experiment_matrix_summary.csv, and notebook exports give the source map for paper and deck tables.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A66223CE-870B-4F79-A083-80978BB546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33900" y="3886200"/>
            <a:ext cx="3124200" cy="1333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233B"/>
          </a:solidFill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F3EB4B80-D68A-45D7-A552-5E44308A4F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33900" y="3886200"/>
            <a:ext cx="31242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DD4BF"/>
          </a:solidFill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D6E25BDE-88AB-4BF4-A268-5400E3B6A7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24400" y="4076700"/>
            <a:ext cx="274320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F8FAFC"/>
                </a:solidFill>
                <a:latin typeface="Aptos Display"/>
                <a:ea typeface="Aptos Display"/>
                <a:cs typeface="Aptos Display"/>
              </a:defRPr>
            </a:pPr>
            <a:r>
              <a:rPr sz="1425" b="1">
                <a:solidFill>
                  <a:srgbClr val="F8FAFC"/>
                </a:solidFill>
                <a:latin typeface="Aptos Display"/>
                <a:ea typeface="Aptos Display"/>
                <a:cs typeface="Aptos Display"/>
              </a:rPr>
              <a:t>W&amp;B + profiler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08DB9A84-90D2-49E4-97EC-4E87A61416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24400" y="4476750"/>
            <a:ext cx="2743200" cy="552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050">
                <a:solidFill>
                  <a:srgbClr val="B8C4D8"/>
                </a:solidFill>
                <a:latin typeface="Aptos"/>
                <a:ea typeface="Aptos"/>
                <a:cs typeface="Aptos"/>
              </a:defRPr>
            </a:pPr>
            <a:r>
              <a:rPr sz="1050">
                <a:solidFill>
                  <a:srgbClr val="B8C4D8"/>
                </a:solidFill>
                <a:latin typeface="Aptos"/>
                <a:ea typeface="Aptos"/>
                <a:cs typeface="Aptos"/>
              </a:rPr>
              <a:t>W&amp;B links and profiling captures support the HPML performance-engineering story without becoming unsupported headline claims.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2DC33326-C94F-42CA-A398-74C956C98D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3886200"/>
            <a:ext cx="3124200" cy="1333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233B"/>
          </a:solidFill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00D8B11A-F3CE-4591-A9FC-18C014CE04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3886200"/>
            <a:ext cx="31242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9E0B"/>
          </a:solidFill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3B1A0456-414A-4A1B-AF30-38F9804182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4076700"/>
            <a:ext cx="274320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F8FAFC"/>
                </a:solidFill>
                <a:latin typeface="Aptos Display"/>
                <a:ea typeface="Aptos Display"/>
                <a:cs typeface="Aptos Display"/>
              </a:defRPr>
            </a:pPr>
            <a:r>
              <a:rPr sz="1425" b="1">
                <a:solidFill>
                  <a:srgbClr val="F8FAFC"/>
                </a:solidFill>
                <a:latin typeface="Aptos Display"/>
                <a:ea typeface="Aptos Display"/>
                <a:cs typeface="Aptos Display"/>
              </a:rPr>
              <a:t>Open gates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928E2612-4384-4D92-92E3-8E60EDA9AD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4476750"/>
            <a:ext cx="2743200" cy="552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050">
                <a:solidFill>
                  <a:srgbClr val="B8C4D8"/>
                </a:solidFill>
                <a:latin typeface="Aptos"/>
                <a:ea typeface="Aptos"/>
                <a:cs typeface="Aptos"/>
              </a:defRPr>
            </a:pPr>
            <a:r>
              <a:rPr sz="1050">
                <a:solidFill>
                  <a:srgbClr val="B8C4D8"/>
                </a:solidFill>
                <a:latin typeface="Aptos"/>
                <a:ea typeface="Aptos"/>
                <a:cs typeface="Aptos"/>
              </a:rPr>
              <a:t>Scenario floor, mitigation reruns, and final Overleaf compile remain explicit gates, not hidden assumptions.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504FEB2F-A3E4-49A5-9A1D-6E8A28A111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38900"/>
            <a:ext cx="103632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750">
                <a:solidFill>
                  <a:srgbClr val="6F7F99"/>
                </a:solidFill>
                <a:latin typeface="Aptos"/>
                <a:ea typeface="Aptos"/>
                <a:cs typeface="Aptos"/>
              </a:defRPr>
            </a:pPr>
            <a:r>
              <a:rPr sz="750">
                <a:solidFill>
                  <a:srgbClr val="6F7F99"/>
                </a:solidFill>
                <a:latin typeface="Aptos"/>
                <a:ea typeface="Aptos"/>
                <a:cs typeface="Aptos"/>
              </a:rPr>
              <a:t>Sources: docs/validation_log.md, results/metrics/, results/figures/, docs/neurips_submission_packet.md.</a:t>
            </a:r>
          </a:p>
        </p:txBody>
      </p:sp>
    </p:spTree>
    <p:extLst>
      <p:ext uri="{BB962C8B-B14F-4D97-AF65-F5344CB8AC3E}">
        <p14:creationId xmlns:p14="http://schemas.microsoft.com/office/powerpoint/2010/main" val="1639067314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0A102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E8DDDF91-3C46-467F-9E1F-EF2116FF28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1020"/>
          </a:solidFill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92DB81C-B874-4762-A20B-71B6196597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DD4BF"/>
          </a:solidFill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A040678-9801-4734-A814-8A2585C432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0" y="0"/>
            <a:ext cx="2095500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9E0B"/>
          </a:solidFill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142BC23-066E-46A3-B960-7671ACC6C9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457200"/>
            <a:ext cx="3810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DD4BF"/>
          </a:solidFill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80024F2-79CB-486B-8E13-00112B606A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34290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2DD4BF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2DD4BF"/>
                </a:solidFill>
                <a:latin typeface="Aptos"/>
                <a:ea typeface="Aptos"/>
                <a:cs typeface="Aptos"/>
              </a:rPr>
              <a:t>CLOSE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2494F33-704A-4C8D-A551-84A14FD415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66750"/>
            <a:ext cx="8858250" cy="666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F8FAFC"/>
                </a:solidFill>
                <a:latin typeface="Aptos Display"/>
                <a:ea typeface="Aptos Display"/>
                <a:cs typeface="Aptos Display"/>
              </a:defRPr>
            </a:pPr>
            <a:r>
              <a:rPr sz="2100" b="1">
                <a:solidFill>
                  <a:srgbClr val="F8FAFC"/>
                </a:solidFill>
                <a:latin typeface="Aptos Display"/>
                <a:ea typeface="Aptos Display"/>
                <a:cs typeface="Aptos Display"/>
              </a:rPr>
              <a:t>The benchmark is useful because it records why agents succeed or fail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E78E66E-5270-4A5F-A1B0-673F8AA992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43050"/>
            <a:ext cx="885825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125">
                <a:solidFill>
                  <a:srgbClr val="B8C4D8"/>
                </a:solidFill>
                <a:latin typeface="Aptos"/>
                <a:ea typeface="Aptos"/>
                <a:cs typeface="Aptos"/>
              </a:defRPr>
            </a:pPr>
            <a:r>
              <a:rPr sz="1125">
                <a:solidFill>
                  <a:srgbClr val="B8C4D8"/>
                </a:solidFill>
                <a:latin typeface="Aptos"/>
                <a:ea typeface="Aptos"/>
                <a:cs typeface="Aptos"/>
              </a:rPr>
              <a:t>Protocol, orchestration, and evidence accounting are all part of the result.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4EE89B9-4B8A-4D13-B851-9EE54CBC9F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457200"/>
            <a:ext cx="5334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6F7F99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6F7F99"/>
                </a:solidFill>
                <a:latin typeface="Aptos"/>
                <a:ea typeface="Aptos"/>
                <a:cs typeface="Aptos"/>
              </a:rPr>
              <a:t>12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9376308-38A2-4EA3-A89A-1CBED31427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962150"/>
            <a:ext cx="3143250" cy="1885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233B"/>
          </a:solidFill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AEB05A1-7C74-4C1A-8683-0981B747DF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962150"/>
            <a:ext cx="31432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DD4BF"/>
          </a:solidFill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70E529B-DED8-416D-B0E0-D9B908B5AB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152650"/>
            <a:ext cx="276225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F8FAFC"/>
                </a:solidFill>
                <a:latin typeface="Aptos Display"/>
                <a:ea typeface="Aptos Display"/>
                <a:cs typeface="Aptos Display"/>
              </a:defRPr>
            </a:pPr>
            <a:r>
              <a:rPr sz="1425" b="1">
                <a:solidFill>
                  <a:srgbClr val="F8FAFC"/>
                </a:solidFill>
                <a:latin typeface="Aptos Display"/>
                <a:ea typeface="Aptos Display"/>
                <a:cs typeface="Aptos Display"/>
              </a:rPr>
              <a:t>What is complete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C08ED48-B04C-4ECC-BF94-88989CDAFA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552700"/>
            <a:ext cx="2762250" cy="1104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050">
                <a:solidFill>
                  <a:srgbClr val="B8C4D8"/>
                </a:solidFill>
                <a:latin typeface="Aptos"/>
                <a:ea typeface="Aptos"/>
                <a:cs typeface="Aptos"/>
              </a:defRPr>
            </a:pPr>
            <a:r>
              <a:rPr sz="1050">
                <a:solidFill>
                  <a:srgbClr val="B8C4D8"/>
                </a:solidFill>
                <a:latin typeface="Aptos"/>
                <a:ea typeface="Aptos"/>
                <a:cs typeface="Aptos"/>
              </a:rPr>
              <a:t>Smart Grid benchmark lane, MCP tool domains, controlled experiment matrix, first-capture result tables, failure taxonomy, and Overleaf/deck scaffolds.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1A1651E-0CDD-41F5-BA22-7E5F6F933C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4850" y="1962150"/>
            <a:ext cx="3143250" cy="1885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233B"/>
          </a:solidFill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16A75C8-D73B-4F68-AF64-2BF531C3D3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4850" y="1962150"/>
            <a:ext cx="31432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9E0B"/>
          </a:solidFill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0AB64EF-3026-41F9-B2EB-A4392AF616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2152650"/>
            <a:ext cx="276225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F8FAFC"/>
                </a:solidFill>
                <a:latin typeface="Aptos Display"/>
                <a:ea typeface="Aptos Display"/>
                <a:cs typeface="Aptos Display"/>
              </a:defRPr>
            </a:pPr>
            <a:r>
              <a:rPr sz="1425" b="1">
                <a:solidFill>
                  <a:srgbClr val="F8FAFC"/>
                </a:solidFill>
                <a:latin typeface="Aptos Display"/>
                <a:ea typeface="Aptos Display"/>
                <a:cs typeface="Aptos Display"/>
              </a:rPr>
              <a:t>What must freeze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5395E49-D051-413B-8CDF-CC46906DF4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2552700"/>
            <a:ext cx="2762250" cy="1104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050">
                <a:solidFill>
                  <a:srgbClr val="B8C4D8"/>
                </a:solidFill>
                <a:latin typeface="Aptos"/>
                <a:ea typeface="Aptos"/>
                <a:cs typeface="Aptos"/>
              </a:defRPr>
            </a:pPr>
            <a:r>
              <a:rPr sz="1050">
                <a:solidFill>
                  <a:srgbClr val="B8C4D8"/>
                </a:solidFill>
                <a:latin typeface="Aptos"/>
                <a:ea typeface="Aptos"/>
                <a:cs typeface="Aptos"/>
              </a:rPr>
              <a:t>30 validated scenarios, final table captions, mitigation rerun decision, checklist answers, and final report back-port.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F83A99D-EB6C-4BE7-8BDD-052F0B4145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1962150"/>
            <a:ext cx="3143250" cy="1885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233B"/>
          </a:solidFill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1479195-E232-49BB-AAE3-DED83F6194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1962150"/>
            <a:ext cx="31432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8BDF8"/>
          </a:solidFill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C79A627-E200-4B3E-AE1A-5DAB1B1754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2152650"/>
            <a:ext cx="276225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F8FAFC"/>
                </a:solidFill>
                <a:latin typeface="Aptos Display"/>
                <a:ea typeface="Aptos Display"/>
                <a:cs typeface="Aptos Display"/>
              </a:defRPr>
            </a:pPr>
            <a:r>
              <a:rPr sz="1425" b="1">
                <a:solidFill>
                  <a:srgbClr val="F8FAFC"/>
                </a:solidFill>
                <a:latin typeface="Aptos Display"/>
                <a:ea typeface="Aptos Display"/>
                <a:cs typeface="Aptos Display"/>
              </a:rPr>
              <a:t>What to say out loud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4EF8D60-FEB0-4AD7-B73D-32F4968425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2552700"/>
            <a:ext cx="2762250" cy="1104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050">
                <a:solidFill>
                  <a:srgbClr val="B8C4D8"/>
                </a:solidFill>
                <a:latin typeface="Aptos"/>
                <a:ea typeface="Aptos"/>
                <a:cs typeface="Aptos"/>
              </a:defRPr>
            </a:pPr>
            <a:r>
              <a:rPr sz="1050">
                <a:solidFill>
                  <a:srgbClr val="B8C4D8"/>
                </a:solidFill>
                <a:latin typeface="Aptos"/>
                <a:ea typeface="Aptos"/>
                <a:cs typeface="Aptos"/>
              </a:rPr>
              <a:t>Benchmark infrastructure choices are not incidental. If we do not record them, the benchmark can look clean while hiding why the agent actually failed.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6F063EB7-2890-4E6E-A8C6-20B5461795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5500" y="4610100"/>
            <a:ext cx="17145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2E4A"/>
          </a:solidFill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8228B3F1-1DA3-416C-8352-FE8E7EDBFD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66950" y="4743450"/>
            <a:ext cx="1371600" cy="400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2325" b="1">
                <a:solidFill>
                  <a:srgbClr val="38BDF8"/>
                </a:solidFill>
                <a:latin typeface="Aptos Display"/>
                <a:ea typeface="Aptos Display"/>
                <a:cs typeface="Aptos Display"/>
              </a:defRPr>
            </a:pPr>
            <a:r>
              <a:rPr sz="2325" b="1">
                <a:solidFill>
                  <a:srgbClr val="38BDF8"/>
                </a:solidFill>
                <a:latin typeface="Aptos Display"/>
                <a:ea typeface="Aptos Display"/>
                <a:cs typeface="Aptos Display"/>
              </a:rPr>
              <a:t>A/B/C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0943CB63-4080-4BA0-BCA9-9CD5097E16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66950" y="5181600"/>
            <a:ext cx="1371600" cy="3619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900">
                <a:solidFill>
                  <a:srgbClr val="B8C4D8"/>
                </a:solidFill>
                <a:latin typeface="Aptos"/>
                <a:ea typeface="Aptos"/>
                <a:cs typeface="Aptos"/>
              </a:defRPr>
            </a:pPr>
            <a:r>
              <a:rPr sz="900">
                <a:solidFill>
                  <a:srgbClr val="B8C4D8"/>
                </a:solidFill>
                <a:latin typeface="Aptos"/>
                <a:ea typeface="Aptos"/>
                <a:cs typeface="Aptos"/>
              </a:rPr>
              <a:t>transport axis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69644FFB-DC6A-4440-BC61-1E5EBC8922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0" y="4610100"/>
            <a:ext cx="17145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2E4A"/>
          </a:solidFill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BC54E580-8FB3-49B9-BD5A-5A184C05C3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10200" y="4743450"/>
            <a:ext cx="1371600" cy="400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2325" b="1">
                <a:solidFill>
                  <a:srgbClr val="F59E0B"/>
                </a:solidFill>
                <a:latin typeface="Aptos Display"/>
                <a:ea typeface="Aptos Display"/>
                <a:cs typeface="Aptos Display"/>
              </a:defRPr>
            </a:pPr>
            <a:r>
              <a:rPr sz="2325" b="1">
                <a:solidFill>
                  <a:srgbClr val="F59E0B"/>
                </a:solidFill>
                <a:latin typeface="Aptos Display"/>
                <a:ea typeface="Aptos Display"/>
                <a:cs typeface="Aptos Display"/>
              </a:rPr>
              <a:t>B/Y/Z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9038A5F4-DF2A-49C2-BDD0-259C17CED6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10200" y="5181600"/>
            <a:ext cx="1371600" cy="3619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900">
                <a:solidFill>
                  <a:srgbClr val="B8C4D8"/>
                </a:solidFill>
                <a:latin typeface="Aptos"/>
                <a:ea typeface="Aptos"/>
                <a:cs typeface="Aptos"/>
              </a:defRPr>
            </a:pPr>
            <a:r>
              <a:rPr sz="900">
                <a:solidFill>
                  <a:srgbClr val="B8C4D8"/>
                </a:solidFill>
                <a:latin typeface="Aptos"/>
                <a:ea typeface="Aptos"/>
                <a:cs typeface="Aptos"/>
              </a:rPr>
              <a:t>orchestration axis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289FA3A9-636F-4546-8B22-9448605C5B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4610100"/>
            <a:ext cx="17145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2E4A"/>
          </a:solidFill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67FB75B5-EAE9-4E7D-95BB-4CCDFAD0A8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53450" y="4743450"/>
            <a:ext cx="1371600" cy="400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2325" b="1">
                <a:solidFill>
                  <a:srgbClr val="2DD4BF"/>
                </a:solidFill>
                <a:latin typeface="Aptos Display"/>
                <a:ea typeface="Aptos Display"/>
                <a:cs typeface="Aptos Display"/>
              </a:defRPr>
            </a:pPr>
            <a:r>
              <a:rPr sz="2325" b="1">
                <a:solidFill>
                  <a:srgbClr val="2DD4BF"/>
                </a:solidFill>
                <a:latin typeface="Aptos Display"/>
                <a:ea typeface="Aptos Display"/>
                <a:cs typeface="Aptos Display"/>
              </a:rPr>
              <a:t>35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51B81099-F699-4757-B164-676429B2C5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53450" y="5181600"/>
            <a:ext cx="1371600" cy="3619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900">
                <a:solidFill>
                  <a:srgbClr val="B8C4D8"/>
                </a:solidFill>
                <a:latin typeface="Aptos"/>
                <a:ea typeface="Aptos"/>
                <a:cs typeface="Aptos"/>
              </a:defRPr>
            </a:pPr>
            <a:r>
              <a:rPr sz="900">
                <a:solidFill>
                  <a:srgbClr val="B8C4D8"/>
                </a:solidFill>
                <a:latin typeface="Aptos"/>
                <a:ea typeface="Aptos"/>
                <a:cs typeface="Aptos"/>
              </a:rPr>
              <a:t>failure rows classified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E21BACD0-A97D-4A02-ACF2-C80B8213E1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38900"/>
            <a:ext cx="103632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750">
                <a:solidFill>
                  <a:srgbClr val="6F7F99"/>
                </a:solidFill>
                <a:latin typeface="Aptos"/>
                <a:ea typeface="Aptos"/>
                <a:cs typeface="Aptos"/>
              </a:defRPr>
            </a:pPr>
            <a:r>
              <a:rPr sz="750">
                <a:solidFill>
                  <a:srgbClr val="6F7F99"/>
                </a:solidFill>
                <a:latin typeface="Aptos"/>
                <a:ea typeface="Aptos"/>
                <a:cs typeface="Aptos"/>
              </a:rPr>
              <a:t>Closing line: Fast, grounded, and auditable are three separate benchmark properties.</a:t>
            </a:r>
          </a:p>
        </p:txBody>
      </p:sp>
    </p:spTree>
    <p:extLst>
      <p:ext uri="{BB962C8B-B14F-4D97-AF65-F5344CB8AC3E}">
        <p14:creationId xmlns:p14="http://schemas.microsoft.com/office/powerpoint/2010/main" val="74121326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2026-05-03T04:46:56.6560000Z</dcterms:created>
  <dcterms:modified xsi:type="dcterms:W3CDTF">2026-05-03T04:46:56.6560000Z</dcterms:modified>
</coreProperties>
</file>